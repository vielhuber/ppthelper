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docProps/app.xml" ContentType="application/vnd.openxmlformats-officedocument.extended-properties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726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41"/>
          <a:sy d="100" n="141"/>
        </p:scale>
        <p:origin x="744" y="11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5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4" Type="http://schemas.openxmlformats.org/officeDocument/2006/relationships/theme" Target="theme/theme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Quellen: McKinsey State of AI 2025, Stanford AI Index 2025, BCG 2024. Konkrete Zahl zur Adoption-Tiefe (1× pro Woche, 1× pro Tag, in Kernprozesse) im Anhang.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Detail-Timeline siehe Greenberg-Traurig 2025 Compliance-Guide. Übergang: “Bevor wir zur Roadmap kommen, kurz zu den Kontrollen…”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Letzte Folie — Schlussbotschaft für die Diskussion: “Wenn wir in 12 Monaten zurückblicken, woran erkennen wir, dass dieses Programm erfolgreich war?”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96452" y="841772"/>
            <a:ext cx="6751097" cy="1790700"/>
          </a:xfrm>
        </p:spPr>
        <p:txBody>
          <a:bodyPr anchor="b">
            <a:normAutofit/>
          </a:bodyPr>
          <a:lstStyle>
            <a:lvl1pPr algn="ctr">
              <a:defRPr sz="36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96452" y="2701528"/>
            <a:ext cx="6751097" cy="124182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12158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30063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1933" y="492920"/>
            <a:ext cx="7300134" cy="2139553"/>
          </a:xfrm>
        </p:spPr>
        <p:txBody>
          <a:bodyPr anchor="b">
            <a:normAutofit/>
          </a:bodyPr>
          <a:lstStyle>
            <a:lvl1pPr>
              <a:defRPr sz="255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21933" y="2701529"/>
            <a:ext cx="7300134" cy="1125140"/>
          </a:xfrm>
        </p:spPr>
        <p:txBody>
          <a:bodyPr/>
          <a:lstStyle>
            <a:lvl1pPr marL="0" indent="0" algn="ctr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48000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47" y="457200"/>
            <a:ext cx="7765321" cy="994741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346" y="1566240"/>
            <a:ext cx="3829503" cy="277716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30052" y="1566240"/>
            <a:ext cx="3820616" cy="277716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32068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47" y="457201"/>
            <a:ext cx="7765321" cy="994172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6354" y="1566240"/>
            <a:ext cx="3659399" cy="617934"/>
          </a:xfrm>
        </p:spPr>
        <p:txBody>
          <a:bodyPr anchor="b"/>
          <a:lstStyle>
            <a:lvl1pPr marL="0" indent="0">
              <a:lnSpc>
                <a:spcPct val="100000"/>
              </a:lnSpc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346" y="2184174"/>
            <a:ext cx="3830406" cy="2159226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801502" y="1566240"/>
            <a:ext cx="3649166" cy="617934"/>
          </a:xfrm>
        </p:spPr>
        <p:txBody>
          <a:bodyPr anchor="b"/>
          <a:lstStyle>
            <a:lvl1pPr marL="0" indent="0">
              <a:lnSpc>
                <a:spcPct val="100000"/>
              </a:lnSpc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184174"/>
            <a:ext cx="3821518" cy="2159226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26514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70371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49872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7921" y="457200"/>
            <a:ext cx="2949178" cy="1771650"/>
          </a:xfrm>
        </p:spPr>
        <p:txBody>
          <a:bodyPr anchor="b">
            <a:normAutofit/>
          </a:bodyPr>
          <a:lstStyle>
            <a:lvl1pPr>
              <a:defRPr sz="21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08548" y="457200"/>
            <a:ext cx="4642119" cy="3886200"/>
          </a:xfrm>
        </p:spPr>
        <p:txBody>
          <a:bodyPr anchor="ctr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7921" y="2228850"/>
            <a:ext cx="2949178" cy="2114549"/>
          </a:xfrm>
        </p:spPr>
        <p:txBody>
          <a:bodyPr/>
          <a:lstStyle>
            <a:lvl1pPr marL="0" indent="0" algn="ctr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33949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7921" y="457200"/>
            <a:ext cx="4447330" cy="1771650"/>
          </a:xfrm>
        </p:spPr>
        <p:txBody>
          <a:bodyPr anchor="b">
            <a:normAutofit/>
          </a:bodyPr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568603" y="569161"/>
            <a:ext cx="2441517" cy="3662279"/>
          </a:xfrm>
          <a:noFill/>
          <a:ln w="1905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/>
          <a:lstStyle>
            <a:lvl1pPr marL="0" indent="0" algn="ctr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345" y="2228850"/>
            <a:ext cx="4451213" cy="2114550"/>
          </a:xfrm>
        </p:spPr>
        <p:txBody>
          <a:bodyPr>
            <a:normAutofit/>
          </a:bodyPr>
          <a:lstStyle>
            <a:lvl1pPr marL="0" indent="0" algn="ctr">
              <a:buNone/>
              <a:defRPr sz="135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09800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abild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55" y="3217030"/>
            <a:ext cx="7775673" cy="614516"/>
          </a:xfrm>
        </p:spPr>
        <p:txBody>
          <a:bodyPr anchor="b">
            <a:normAutofit/>
          </a:bodyPr>
          <a:lstStyle>
            <a:lvl1pPr>
              <a:defRPr sz="21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5355" y="465991"/>
            <a:ext cx="7775673" cy="2534801"/>
          </a:xfrm>
          <a:noFill/>
          <a:ln w="1905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/>
          <a:lstStyle>
            <a:lvl1pPr marL="0" indent="0" algn="ctr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346" y="3831546"/>
            <a:ext cx="7774499" cy="511854"/>
          </a:xfrm>
        </p:spPr>
        <p:txBody>
          <a:bodyPr>
            <a:normAutofit/>
          </a:bodyPr>
          <a:lstStyle>
            <a:lvl1pPr marL="0" indent="0" algn="ctr">
              <a:buNone/>
              <a:defRPr sz="135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83794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 und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46" y="457201"/>
            <a:ext cx="7765322" cy="2568644"/>
          </a:xfrm>
        </p:spPr>
        <p:txBody>
          <a:bodyPr anchor="ctr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347" y="3153615"/>
            <a:ext cx="7765321" cy="1194140"/>
          </a:xfrm>
        </p:spPr>
        <p:txBody>
          <a:bodyPr anchor="ctr"/>
          <a:lstStyle>
            <a:lvl1pPr marL="0" indent="0" algn="ctr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493589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Zitat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84659" y="457200"/>
            <a:ext cx="6977064" cy="2244678"/>
          </a:xfrm>
        </p:spPr>
        <p:txBody>
          <a:bodyPr anchor="ctr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290484" y="2707524"/>
            <a:ext cx="6564224" cy="320109"/>
          </a:xfrm>
        </p:spPr>
        <p:txBody>
          <a:bodyPr anchor="t">
            <a:normAutofit/>
          </a:bodyPr>
          <a:lstStyle>
            <a:lvl1pPr marL="0" indent="0" algn="r">
              <a:buNone/>
              <a:defRPr sz="105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345" y="3153616"/>
            <a:ext cx="7765322" cy="1189785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627459" y="551431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6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93467" y="2229070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6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2994242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nskar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55" y="1595207"/>
            <a:ext cx="7766495" cy="1883876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346" y="3487917"/>
            <a:ext cx="7765322" cy="855483"/>
          </a:xfrm>
        </p:spPr>
        <p:txBody>
          <a:bodyPr anchor="t"/>
          <a:lstStyle>
            <a:lvl1pPr marL="0" indent="0" algn="ctr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12226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Sp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685345" y="457201"/>
            <a:ext cx="7765322" cy="994172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85346" y="1566240"/>
            <a:ext cx="2474217" cy="617479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5346" y="2183718"/>
            <a:ext cx="2474217" cy="2159682"/>
          </a:xfrm>
        </p:spPr>
        <p:txBody>
          <a:bodyPr anchor="t">
            <a:normAutofit/>
          </a:bodyPr>
          <a:lstStyle>
            <a:lvl1pPr marL="0" indent="0" algn="ctr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333658" y="1566240"/>
            <a:ext cx="2473919" cy="617478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3333659" y="2183718"/>
            <a:ext cx="2474866" cy="2159682"/>
          </a:xfrm>
        </p:spPr>
        <p:txBody>
          <a:bodyPr anchor="t">
            <a:normAutofit/>
          </a:bodyPr>
          <a:lstStyle>
            <a:lvl1pPr marL="0" indent="0" algn="ctr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979974" y="1566240"/>
            <a:ext cx="2468408" cy="617478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5982260" y="2183718"/>
            <a:ext cx="2468408" cy="2159682"/>
          </a:xfrm>
        </p:spPr>
        <p:txBody>
          <a:bodyPr anchor="t">
            <a:normAutofit/>
          </a:bodyPr>
          <a:lstStyle>
            <a:lvl1pPr marL="0" indent="0" algn="ctr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494830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Bildsp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685346" y="457201"/>
            <a:ext cx="7765322" cy="994172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5347" y="3146924"/>
            <a:ext cx="2474216" cy="432197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15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819015" y="1724240"/>
            <a:ext cx="2205038" cy="1143000"/>
          </a:xfrm>
          <a:prstGeom prst="roundRect">
            <a:avLst>
              <a:gd name="adj" fmla="val 0"/>
            </a:avLst>
          </a:prstGeom>
          <a:noFill/>
          <a:ln w="14605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5347" y="3579121"/>
            <a:ext cx="2474216" cy="764279"/>
          </a:xfrm>
        </p:spPr>
        <p:txBody>
          <a:bodyPr anchor="t">
            <a:normAutofit/>
          </a:bodyPr>
          <a:lstStyle>
            <a:lvl1pPr marL="0" indent="0" algn="ctr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332026" y="3146924"/>
            <a:ext cx="2474237" cy="432197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15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426747" y="1724240"/>
            <a:ext cx="2197894" cy="1143000"/>
          </a:xfrm>
          <a:prstGeom prst="roundRect">
            <a:avLst>
              <a:gd name="adj" fmla="val 0"/>
            </a:avLst>
          </a:prstGeom>
          <a:noFill/>
          <a:ln w="14605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3331011" y="3579120"/>
            <a:ext cx="2475252" cy="764279"/>
          </a:xfrm>
        </p:spPr>
        <p:txBody>
          <a:bodyPr anchor="t">
            <a:normAutofit/>
          </a:bodyPr>
          <a:lstStyle>
            <a:lvl1pPr marL="0" indent="0" algn="ctr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980067" y="3146924"/>
            <a:ext cx="2467425" cy="432197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15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6114603" y="1724240"/>
            <a:ext cx="2199085" cy="1143000"/>
          </a:xfrm>
          <a:prstGeom prst="roundRect">
            <a:avLst>
              <a:gd name="adj" fmla="val 0"/>
            </a:avLst>
          </a:prstGeom>
          <a:noFill/>
          <a:ln w="14605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5979973" y="3579121"/>
            <a:ext cx="2470694" cy="764278"/>
          </a:xfrm>
        </p:spPr>
        <p:txBody>
          <a:bodyPr anchor="t">
            <a:normAutofit/>
          </a:bodyPr>
          <a:lstStyle>
            <a:lvl1pPr marL="0" indent="0" algn="ctr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805991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808853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457200"/>
            <a:ext cx="1906993" cy="3886201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346" y="457200"/>
            <a:ext cx="5744029" cy="3886201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088889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1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slideLayouts/slideLayout17.xml" Type="http://schemas.openxmlformats.org/officeDocument/2006/relationships/slideLayout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5347" y="457200"/>
            <a:ext cx="7765321" cy="9947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346" y="1572048"/>
            <a:ext cx="7765322" cy="277135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759052" y="4412457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346" y="4412457"/>
            <a:ext cx="5004649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885509" y="4412457"/>
            <a:ext cx="565159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070381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  <p:sldLayoutId id="2147483738" r:id="rId12"/>
    <p:sldLayoutId id="2147483739" r:id="rId13"/>
    <p:sldLayoutId id="2147483740" r:id="rId14"/>
    <p:sldLayoutId id="2147483741" r:id="rId15"/>
    <p:sldLayoutId id="2147483742" r:id="rId16"/>
    <p:sldLayoutId id="2147483743" r:id="rId17"/>
  </p:sldLayoutIdLst>
  <p:txStyles>
    <p:titleStyle>
      <a:lvl1pPr algn="ctr" defTabSz="685800" rtl="0" eaLnBrk="1" latinLnBrk="0" hangingPunct="1">
        <a:lnSpc>
          <a:spcPct val="90000"/>
        </a:lnSpc>
        <a:spcBef>
          <a:spcPct val="0"/>
        </a:spcBef>
        <a:buNone/>
        <a:defRPr sz="2550" b="1" i="0" kern="1200" cap="all">
          <a:solidFill>
            <a:schemeClr val="tx1"/>
          </a:solidFill>
          <a:effectLst>
            <a:outerShdw blurRad="50800" dist="63500" dir="2700000" algn="tl" rotWithShape="0">
              <a:srgbClr val="000000">
                <a:alpha val="48000"/>
              </a:srgbClr>
            </a:outerShdw>
          </a:effectLst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120000"/>
        </a:lnSpc>
        <a:spcBef>
          <a:spcPts val="750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12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120000"/>
        </a:lnSpc>
        <a:spcBef>
          <a:spcPts val="375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120000"/>
        </a:lnSpc>
        <a:spcBef>
          <a:spcPts val="375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120000"/>
        </a:lnSpc>
        <a:spcBef>
          <a:spcPts val="375"/>
        </a:spcBef>
        <a:buFont typeface="Arial" panose="020B0604020202020204" pitchFamily="34" charset="0"/>
        <a:buChar char="•"/>
        <a:defRPr sz="9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120000"/>
        </a:lnSpc>
        <a:spcBef>
          <a:spcPts val="375"/>
        </a:spcBef>
        <a:buFont typeface="Arial" panose="020B0604020202020204" pitchFamily="34" charset="0"/>
        <a:buChar char="•"/>
        <a:defRPr sz="9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120000"/>
        </a:lnSpc>
        <a:spcBef>
          <a:spcPts val="375"/>
        </a:spcBef>
        <a:buFont typeface="Arial" panose="020B0604020202020204" pitchFamily="34" charset="0"/>
        <a:buChar char="•"/>
        <a:defRPr sz="9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120000"/>
        </a:lnSpc>
        <a:spcBef>
          <a:spcPts val="375"/>
        </a:spcBef>
        <a:buFont typeface="Arial" panose="020B0604020202020204" pitchFamily="34" charset="0"/>
        <a:buChar char="•"/>
        <a:defRPr sz="9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120000"/>
        </a:lnSpc>
        <a:spcBef>
          <a:spcPts val="375"/>
        </a:spcBef>
        <a:buFont typeface="Arial" panose="020B0604020202020204" pitchFamily="34" charset="0"/>
        <a:buChar char="•"/>
        <a:defRPr sz="9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 in Unternehmen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Strategie, Wert &amp; Umsetzung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23. Mai 2026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-342900" marL="342900">
              <a:buAutoNum type="arabicPeriod"/>
            </a:pPr>
            <a:r>
              <a:rPr/>
              <a:t>Marktdynamik</a:t>
            </a:r>
          </a:p>
          <a:p>
            <a:pPr lvl="0" indent="-342900" marL="342900">
              <a:buAutoNum startAt="2" type="arabicPeriod"/>
            </a:pPr>
            <a:r>
              <a:rPr/>
              <a:t>Werthebel</a:t>
            </a:r>
          </a:p>
          <a:p>
            <a:pPr lvl="0" indent="-342900" marL="342900">
              <a:buAutoNum startAt="3" type="arabicPeriod"/>
            </a:pPr>
            <a:r>
              <a:rPr/>
              <a:t>Daten &amp; Plattform</a:t>
            </a:r>
          </a:p>
          <a:p>
            <a:pPr lvl="0" indent="-342900" marL="342900">
              <a:buAutoNum startAt="4" type="arabicPeriod"/>
            </a:pPr>
            <a:r>
              <a:rPr/>
              <a:t>Governance</a:t>
            </a:r>
          </a:p>
          <a:p>
            <a:pPr lvl="0" indent="-342900" marL="342900">
              <a:buAutoNum startAt="5" type="arabicPeriod"/>
            </a:pPr>
            <a:r>
              <a:rPr/>
              <a:t>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1: Marktdynamik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Adoption steigt rasant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78 % der Unternehmen nutzen GenAI wöchentlich</a:t>
            </a:r>
          </a:p>
          <a:p>
            <a:pPr lvl="0"/>
            <a:r>
              <a:rPr/>
              <a:t>Pilot-zu-Produktion bleibt das Nadelöhr</a:t>
            </a:r>
          </a:p>
          <a:p>
            <a:pPr lvl="0"/>
            <a:r>
              <a:rPr/>
              <a:t>Investitionen verdoppeln sich jedes Jahr</a:t>
            </a:r>
          </a:p>
          <a:p>
            <a:pPr lvl="0"/>
            <a:r>
              <a:rPr/>
              <a:t>Skill-Gap wird zur Engpass-Disziplin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Markttrends 2026 im 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85346" y="1877020"/>
            <a:ext cx="3829503" cy="2155601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Agentic AI verlässt das Lab</a:t>
            </a:r>
          </a:p>
          <a:p>
            <a:pPr lvl="0"/>
            <a:r>
              <a:rPr/>
              <a:t>Multimodale Modelle werden Standard</a:t>
            </a:r>
          </a:p>
          <a:p>
            <a:pPr lvl="0"/>
            <a:r>
              <a:rPr/>
              <a:t>On-Device-Inferenz für sensible Daten</a:t>
            </a:r>
          </a:p>
          <a:p>
            <a:pPr lvl="0"/>
            <a:r>
              <a:rPr/>
              <a:t>Open-Source-Modelle holen auf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Kernzahlen 2024–2026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73100" y="1562100"/>
          <a:ext cx="77597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30400"/>
                <a:gridCol w="1930400"/>
                <a:gridCol w="1930400"/>
                <a:gridCol w="1930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Indikator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KI-Nutzung (wöchentlich)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56 %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71 %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Skalierte Use Cases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26 %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KI-Investitionen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180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252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320 Mrd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Skills-Gap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Governance-Reife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2: Werthebel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 Wert entsteht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Umsatz: Pricing, Sales, Cross-Sell</a:t>
            </a:r>
          </a:p>
          <a:p>
            <a:pPr lvl="0"/>
            <a:r>
              <a:rPr/>
              <a:t>Kosten: Automation und Qualität</a:t>
            </a:r>
          </a:p>
          <a:p>
            <a:pPr lvl="0"/>
            <a:r>
              <a:rPr/>
              <a:t>Tempo: kürzere Zyklen, weniger Rework</a:t>
            </a:r>
          </a:p>
          <a:p>
            <a:pPr lvl="0"/>
            <a:r>
              <a:rPr/>
              <a:t>Innovation: neue Produkte &amp; Services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0052" y="1879521"/>
            <a:ext cx="3820616" cy="2150598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Andrew Ng sagt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2"/>
          </p:nvPr>
        </p:nvSpPr>
        <p:spPr/>
        <p:txBody>
          <a:bodyPr>
            <a:normAutofit/>
          </a:bodyPr>
          <a:lstStyle/>
          <a:p>
            <a:pPr lvl="0" indent="0">
              <a:buNone/>
            </a:pPr>
            <a:r>
              <a:rPr sz="2000"/>
              <a:t>KI ersetzt nicht Menschen. Menschen mit KI ersetzen Menschen ohne KI.</a:t>
            </a:r>
          </a:p>
          <a:p>
            <a:pPr lvl="0" indent="0">
              <a:buNone/>
            </a:pPr>
            <a:r>
              <a:rPr sz="2000"/>
              <a:t>— frei nach Andrew Ng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Use-Case-Portfolio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73100" y="1562100"/>
          <a:ext cx="77597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78100"/>
                <a:gridCol w="2578100"/>
                <a:gridCol w="2578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Bereich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Reife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Agent Assist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Marketing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Content-Engine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Operations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Forecasting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Recruiting Copilot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Anomalie-Erkennung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3: Daten &amp; Plattform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Daten als Engpass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85346" y="1877020"/>
            <a:ext cx="3829503" cy="2155601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Datenqualität limitiert die meisten Piloten</a:t>
            </a:r>
          </a:p>
          <a:p>
            <a:pPr lvl="0"/>
            <a:r>
              <a:rPr/>
              <a:t>Ownership fehlt fast überall</a:t>
            </a:r>
          </a:p>
          <a:p>
            <a:pPr lvl="0"/>
            <a:r>
              <a:rPr/>
              <a:t>Vektor-DBs werden zur Pflicht</a:t>
            </a:r>
          </a:p>
          <a:p>
            <a:pPr lvl="0"/>
            <a:r>
              <a:rPr/>
              <a:t>Cost-Tracking pro Workflow wird neu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Architektur-Zielbild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40000" y="1562100"/>
            <a:ext cx="4013200" cy="2260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4: Governance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EU AI Act kompakt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Anwendungspflicht ab 2026 stufenweise</a:t>
            </a:r>
          </a:p>
          <a:p>
            <a:pPr lvl="0"/>
            <a:r>
              <a:rPr/>
              <a:t>High-Risk-Pflichten ab August 2026</a:t>
            </a:r>
          </a:p>
          <a:p>
            <a:pPr lvl="0"/>
            <a:r>
              <a:rPr/>
              <a:t>Dokumentation und Audit-Trail werden Pflicht</a:t>
            </a:r>
          </a:p>
          <a:p>
            <a:pPr lvl="0"/>
            <a:r>
              <a:rPr/>
              <a:t>Schatten-KI ist heute schon ein Risiko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5: 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12-Monats-Roadmap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73100" y="1562100"/>
          <a:ext cx="7759700" cy="2768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78100"/>
                <a:gridCol w="2578100"/>
                <a:gridCol w="2578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Quartal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Fokus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Ergebnis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Strategie &amp; Portfolio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Use-Case-Liste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Plattform &amp; Piloten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produktive MVPs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Rollout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Erfolgsfaktoren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Vorstands-Sponsoring mit klarer Verantwortung</a:t>
            </a:r>
          </a:p>
          <a:p>
            <a:pPr lvl="0"/>
            <a:r>
              <a:rPr/>
              <a:t>Fokus auf wenige, messbare Werthebel</a:t>
            </a:r>
          </a:p>
          <a:p>
            <a:pPr lvl="0"/>
            <a:r>
              <a:rPr/>
              <a:t>Daten- und Prozessarbeit vor Modell-Faszination</a:t>
            </a:r>
          </a:p>
          <a:p>
            <a:pPr lvl="0"/>
            <a:r>
              <a:rPr/>
              <a:t>Governance als Beschleuniger, nicht als Bremse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Fazit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KI ist Organisationsentwicklung, kein IT-Projekt</a:t>
            </a:r>
          </a:p>
          <a:p>
            <a:pPr lvl="0"/>
            <a:r>
              <a:rPr/>
              <a:t>Wettbewerbsvorteil entsteht durch integrierte Workflows</a:t>
            </a:r>
          </a:p>
          <a:p>
            <a:pPr lvl="0"/>
            <a:r>
              <a:rPr/>
              <a:t>Verantwortungsvolle Skalierung braucht Leitplanken</a:t>
            </a:r>
          </a:p>
          <a:p>
            <a:pPr lvl="0"/>
            <a:r>
              <a:rPr/>
              <a:t>Jetzt zählt: priorisieren, produktiv setzen, lernen, skalieren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Damask">
  <a:themeElements>
    <a:clrScheme name="Damask">
      <a:dk1>
        <a:sysClr val="windowText" lastClr="000000"/>
      </a:dk1>
      <a:lt1>
        <a:sysClr val="window" lastClr="FFFFFF"/>
      </a:lt1>
      <a:dk2>
        <a:srgbClr val="2A5B7F"/>
      </a:dk2>
      <a:lt2>
        <a:srgbClr val="ABDAFC"/>
      </a:lt2>
      <a:accent1>
        <a:srgbClr val="9EC544"/>
      </a:accent1>
      <a:accent2>
        <a:srgbClr val="50BEA3"/>
      </a:accent2>
      <a:accent3>
        <a:srgbClr val="4A9CCC"/>
      </a:accent3>
      <a:accent4>
        <a:srgbClr val="9A66CA"/>
      </a:accent4>
      <a:accent5>
        <a:srgbClr val="C54F71"/>
      </a:accent5>
      <a:accent6>
        <a:srgbClr val="DE9C3C"/>
      </a:accent6>
      <a:hlink>
        <a:srgbClr val="6BA9DA"/>
      </a:hlink>
      <a:folHlink>
        <a:srgbClr val="A0BCD3"/>
      </a:folHlink>
    </a:clrScheme>
    <a:fontScheme name="Damask">
      <a:majorFont>
        <a:latin typeface="Bookman Old Style" panose="02050604050505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ckwell" panose="020606030202050204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amask">
      <a:fillStyleLst>
        <a:solidFill>
          <a:schemeClr val="phClr"/>
        </a:solidFill>
        <a:gradFill rotWithShape="1">
          <a:gsLst>
            <a:gs pos="0">
              <a:schemeClr val="phClr">
                <a:tint val="48000"/>
                <a:satMod val="105000"/>
                <a:lumMod val="110000"/>
              </a:schemeClr>
            </a:gs>
            <a:gs pos="100000">
              <a:schemeClr val="phClr">
                <a:tint val="78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0000"/>
                <a:lumMod val="104000"/>
              </a:schemeClr>
            </a:gs>
            <a:gs pos="69000">
              <a:schemeClr val="phClr">
                <a:shade val="86000"/>
                <a:satMod val="130000"/>
                <a:lumMod val="102000"/>
              </a:schemeClr>
            </a:gs>
            <a:gs pos="100000">
              <a:schemeClr val="phClr">
                <a:shade val="72000"/>
                <a:satMod val="130000"/>
                <a:lumMod val="100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38100" dir="5400000" sy="96000" rotWithShape="0">
              <a:srgbClr val="000000">
                <a:alpha val="54000"/>
              </a:srgbClr>
            </a:outerShdw>
          </a:effectLst>
        </a:effectStyle>
        <a:effectStyle>
          <a:effectLst>
            <a:outerShdw blurRad="76200" dist="38100" dir="5400000" algn="ctr" rotWithShape="0">
              <a:srgbClr val="000000">
                <a:alpha val="76000"/>
              </a:srgbClr>
            </a:outerShdw>
          </a:effectLst>
          <a:scene3d>
            <a:camera prst="orthographicFront">
              <a:rot lat="0" lon="0" rev="0"/>
            </a:camera>
            <a:lightRig rig="balanced" dir="t"/>
          </a:scene3d>
          <a:sp3d prstMaterial="matte">
            <a:bevelT w="25400" h="25400" prst="relaxedInse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shade val="18000"/>
                <a:satMod val="160000"/>
                <a:lumMod val="28000"/>
              </a:schemeClr>
              <a:schemeClr val="phClr">
                <a:tint val="95000"/>
                <a:satMod val="160000"/>
                <a:lumMod val="116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amask" id="{F9A299A0-33D0-4E0F-9F3F-7163E3744208}" vid="{746EEEEA-FB6A-406B-B510-531588D5481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Damast</Template>
  <TotalTime>0</TotalTime>
  <Words>0</Words>
  <Application>Microsoft Office PowerPoint</Application>
  <PresentationFormat>Bildschirmpräsentation (16:9)</PresentationFormat>
  <Paragraphs>0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6" baseType="lpstr">
      <vt:lpstr>Arial</vt:lpstr>
      <vt:lpstr>Bookman Old Style</vt:lpstr>
      <vt:lpstr>Calibri</vt:lpstr>
      <vt:lpstr>Rockwell</vt:lpstr>
      <vt:lpstr>Damask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 in Unternehmen</dc:title>
  <dc:creator>Strategie, Wert &amp; Umsetzung</dc:creator>
  <cp:keywords/>
  <dcterms:created xsi:type="dcterms:W3CDTF">2026-07-21T15:34:26Z</dcterms:created>
  <dcterms:modified xsi:type="dcterms:W3CDTF">2026-07-21T15:34:26Z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23. Mai 2026</vt:lpwstr>
  </property>
</Properties>
</file>