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726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32"/>
          <a:sy d="100" n="132"/>
        </p:scale>
        <p:origin x="126" y="264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notesMaster" Target="notesMasters/notesMaster1.xml" /><Relationship Id="rId25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24" Type="http://schemas.openxmlformats.org/officeDocument/2006/relationships/theme" Target="theme/theme1.xml" /><Relationship Id="rId23" Type="http://schemas.openxmlformats.org/officeDocument/2006/relationships/viewProps" Target="viewProps.xml" /><Relationship Id="rId22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5/23/2026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Quellen: McKinsey State of AI 2025, Stanford AI Index 2025, BCG 2024. Konkrete Zahl zur Adoption-Tiefe (1× pro Woche, 1× pro Tag, in Kernprozesse) im Anhang.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Detail-Timeline siehe Greenberg-Traurig 2025 Compliance-Guide. Übergang: “Bevor wir zur Roadmap kommen, kurz zu den Kontrollen…”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Letzte Folie — Schlussbotschaft für die Diskussion: “Wenn wir in 12 Monaten zurückblicken, woran erkennen wir, dass dieses Programm erfolgreich war?”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34900" y="2314324"/>
            <a:ext cx="8447150" cy="24786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5894" y="765324"/>
            <a:ext cx="8245162" cy="1106260"/>
          </a:xfrm>
          <a:effectLst/>
        </p:spPr>
        <p:txBody>
          <a:bodyPr anchor="b">
            <a:normAutofit/>
          </a:bodyPr>
          <a:lstStyle>
            <a:lvl1pPr>
              <a:defRPr sz="270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895" y="1871584"/>
            <a:ext cx="8245160" cy="442741"/>
          </a:xfrm>
        </p:spPr>
        <p:txBody>
          <a:bodyPr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2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04463" y="4467103"/>
            <a:ext cx="213360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894" y="4463859"/>
            <a:ext cx="5187908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62330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8582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5895" y="1635373"/>
            <a:ext cx="8272211" cy="275872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8725" y="4467103"/>
            <a:ext cx="789381" cy="273844"/>
          </a:xfrm>
        </p:spPr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4671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5863" y="3856481"/>
            <a:ext cx="8468145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2282933"/>
            <a:ext cx="8272211" cy="1123130"/>
          </a:xfrm>
        </p:spPr>
        <p:txBody>
          <a:bodyPr anchor="b">
            <a:normAutofit/>
          </a:bodyPr>
          <a:lstStyle>
            <a:lvl1pPr algn="l">
              <a:defRPr sz="2700" b="0" cap="all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5" y="3406063"/>
            <a:ext cx="8272211" cy="450417"/>
          </a:xfrm>
        </p:spPr>
        <p:txBody>
          <a:bodyPr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2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1662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35895" y="1671003"/>
            <a:ext cx="4066793" cy="272478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1313" y="1671003"/>
            <a:ext cx="4066794" cy="2724785"/>
          </a:xfrm>
        </p:spPr>
        <p:txBody>
          <a:bodyPr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853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334487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435895" y="547244"/>
            <a:ext cx="8272212" cy="7412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5415" y="1688169"/>
            <a:ext cx="3815306" cy="402004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896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92802" y="1688169"/>
            <a:ext cx="3815305" cy="415030"/>
          </a:xfrm>
        </p:spPr>
        <p:txBody>
          <a:bodyPr anchor="b">
            <a:noAutofit/>
          </a:bodyPr>
          <a:lstStyle>
            <a:lvl1pPr marL="0" indent="0">
              <a:buNone/>
              <a:defRPr sz="1650" b="0">
                <a:solidFill>
                  <a:schemeClr val="accent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282" y="2194540"/>
            <a:ext cx="4044825" cy="2201249"/>
          </a:xfrm>
        </p:spPr>
        <p:txBody>
          <a:bodyPr anchor="t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733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330512" y="454916"/>
            <a:ext cx="8475027" cy="94412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31921" y="547244"/>
            <a:ext cx="8272212" cy="741249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33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9405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335863" y="3856480"/>
            <a:ext cx="8473650" cy="9560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4" y="3946722"/>
            <a:ext cx="3682084" cy="517136"/>
          </a:xfrm>
        </p:spPr>
        <p:txBody>
          <a:bodyPr anchor="ctr"/>
          <a:lstStyle>
            <a:lvl1pPr algn="l">
              <a:defRPr sz="15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5862" y="450900"/>
            <a:ext cx="8469630" cy="3153600"/>
          </a:xfrm>
        </p:spPr>
        <p:txBody>
          <a:bodyPr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05618" y="3946723"/>
            <a:ext cx="4402490" cy="517136"/>
          </a:xfrm>
        </p:spPr>
        <p:txBody>
          <a:bodyPr anchor="ctr">
            <a:normAutofit/>
          </a:bodyPr>
          <a:lstStyle>
            <a:lvl1pPr marL="0" indent="0" algn="r">
              <a:buNone/>
              <a:defRPr sz="825">
                <a:solidFill>
                  <a:schemeClr val="bg1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318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5895" y="3520042"/>
            <a:ext cx="8272212" cy="425054"/>
          </a:xfrm>
        </p:spPr>
        <p:txBody>
          <a:bodyPr anchor="b">
            <a:normAutofit/>
          </a:bodyPr>
          <a:lstStyle>
            <a:lvl1pPr algn="l">
              <a:defRPr sz="1800" b="0">
                <a:solidFill>
                  <a:schemeClr val="accent1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35863" y="449794"/>
            <a:ext cx="8468144" cy="2667939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35894" y="3945096"/>
            <a:ext cx="8272213" cy="449003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190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330214" y="460805"/>
            <a:ext cx="8482004" cy="891974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435894" y="526617"/>
            <a:ext cx="8272212" cy="760350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38753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6629401" y="449794"/>
            <a:ext cx="2180113" cy="4362713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1" y="506795"/>
            <a:ext cx="1503123" cy="3887305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1193" y="506795"/>
            <a:ext cx="5922209" cy="3887305"/>
          </a:xfrm>
        </p:spPr>
        <p:txBody>
          <a:bodyPr vert="eaVert" anchor="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45255" y="4467103"/>
            <a:ext cx="99610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3" y="4463859"/>
            <a:ext cx="5922209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34962" y="4467103"/>
            <a:ext cx="873146" cy="273844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61982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5894" y="528843"/>
            <a:ext cx="8272212" cy="89216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5894" y="1752002"/>
            <a:ext cx="8272212" cy="26420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04464" y="4467103"/>
            <a:ext cx="213359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r>
              <a:rPr lang="de-DE"/>
              <a:t>21.05.2026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5894" y="4463859"/>
            <a:ext cx="5187908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accent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18725" y="4467103"/>
            <a:ext cx="78938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accent2"/>
                </a:solidFill>
              </a:defRPr>
            </a:lvl1pPr>
          </a:lstStyle>
          <a:p>
            <a:fld id="{C5EF2332-01BF-834F-8236-50238282D533}" type="slidenum">
              <a:rPr lang="en-US" smtClean="0"/>
              <a:t>‹Nr.›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34901" y="342900"/>
            <a:ext cx="2777490" cy="7124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6031610" y="340232"/>
            <a:ext cx="2777490" cy="73916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3181373" y="342900"/>
            <a:ext cx="2777490" cy="6858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42569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21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9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350" kern="1200">
          <a:solidFill>
            <a:schemeClr val="tx2"/>
          </a:solidFill>
          <a:latin typeface="+mn-lt"/>
          <a:ea typeface="+mn-ea"/>
          <a:cs typeface="+mn-cs"/>
        </a:defRPr>
      </a:lvl1pPr>
      <a:lvl2pPr marL="472500" indent="-229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2pPr>
      <a:lvl3pPr marL="675000" indent="-202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050" kern="1200">
          <a:solidFill>
            <a:schemeClr val="tx2"/>
          </a:solidFill>
          <a:latin typeface="+mn-lt"/>
          <a:ea typeface="+mn-ea"/>
          <a:cs typeface="+mn-cs"/>
        </a:defRPr>
      </a:lvl3pPr>
      <a:lvl4pPr marL="93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4pPr>
      <a:lvl5pPr marL="1201500" indent="-17550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5pPr>
      <a:lvl6pPr marL="142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6pPr>
      <a:lvl7pPr marL="165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7pPr>
      <a:lvl8pPr marL="1875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8pPr>
      <a:lvl9pPr marL="210000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9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KI in Unternehmen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Strategie, Wert &amp; Umsetzung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23. Mai 2026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-342900" marL="342900">
              <a:buAutoNum type="arabicPeriod"/>
            </a:pPr>
            <a:r>
              <a:rPr/>
              <a:t>Marktdynamik</a:t>
            </a:r>
          </a:p>
          <a:p>
            <a:pPr lvl="0" indent="-342900" marL="342900">
              <a:buAutoNum startAt="2" type="arabicPeriod"/>
            </a:pPr>
            <a:r>
              <a:rPr/>
              <a:t>Werthebel</a:t>
            </a:r>
          </a:p>
          <a:p>
            <a:pPr lvl="0" indent="-342900" marL="342900">
              <a:buAutoNum startAt="3" type="arabicPeriod"/>
            </a:pPr>
            <a:r>
              <a:rPr/>
              <a:t>Daten &amp; Plattform</a:t>
            </a:r>
          </a:p>
          <a:p>
            <a:pPr lvl="0" indent="-342900" marL="342900">
              <a:buAutoNum startAt="4" type="arabicPeriod"/>
            </a:pPr>
            <a:r>
              <a:rPr/>
              <a:t>Governance</a:t>
            </a:r>
          </a:p>
          <a:p>
            <a:pPr lvl="0" indent="-342900" marL="342900">
              <a:buAutoNum startAt="5" type="arabicPeriod"/>
            </a:pPr>
            <a:r>
              <a:rPr/>
              <a:t>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1: Marktdynamik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Adoption steigt rasant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78 % der Unternehmen nutzen GenAI wöchentlich</a:t>
            </a:r>
          </a:p>
          <a:p>
            <a:pPr lvl="0"/>
            <a:r>
              <a:rPr/>
              <a:t>Pilot-zu-Produktion bleibt das Nadelöhr</a:t>
            </a:r>
          </a:p>
          <a:p>
            <a:pPr lvl="0"/>
            <a:r>
              <a:rPr/>
              <a:t>Investitionen verdoppeln sich jedes Jahr</a:t>
            </a:r>
          </a:p>
          <a:p>
            <a:pPr lvl="0"/>
            <a:r>
              <a:rPr/>
              <a:t>Skill-Gap wird zur Engpass-Disziplin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Markttrends 2026 im 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5895" y="1888810"/>
            <a:ext cx="4066793" cy="22891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Agentic AI verlässt das Lab</a:t>
            </a:r>
          </a:p>
          <a:p>
            <a:pPr lvl="0"/>
            <a:r>
              <a:rPr/>
              <a:t>Multimodale Modelle werden Standard</a:t>
            </a:r>
          </a:p>
          <a:p>
            <a:pPr lvl="0"/>
            <a:r>
              <a:rPr/>
              <a:t>On-Device-Inferenz für sensible Daten</a:t>
            </a:r>
          </a:p>
          <a:p>
            <a:pPr lvl="0"/>
            <a:r>
              <a:rPr/>
              <a:t>Open-Source-Modelle holen auf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Kernzahlen 2024–2026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31800" y="1739900"/>
          <a:ext cx="8267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Indikator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KI-Nutzung (wöchentlich)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56 %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71 %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78 %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Skalierte Use Cases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12 %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19 %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26 %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KI-Investitionen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180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252 Mrd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320 Mrd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Skills-Gap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Governance-Reife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2: Werthebel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Wo Wert entsteht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Umsatz: Pricing, Sales, Cross-Sell</a:t>
            </a:r>
          </a:p>
          <a:p>
            <a:pPr lvl="0"/>
            <a:r>
              <a:rPr/>
              <a:t>Kosten: Automation und Qualität</a:t>
            </a:r>
          </a:p>
          <a:p>
            <a:pPr lvl="0"/>
            <a:r>
              <a:rPr/>
              <a:t>Tempo: kürzere Zyklen, weniger Rework</a:t>
            </a:r>
          </a:p>
          <a:p>
            <a:pPr lvl="0"/>
            <a:r>
              <a:rPr/>
              <a:t>Innovation: neue Produkte &amp; Services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641313" y="1888810"/>
            <a:ext cx="4066794" cy="22891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Was Andrew Ng sagt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indent="0">
              <a:buNone/>
            </a:pPr>
            <a:r>
              <a:rPr sz="2000" i="1"/>
              <a:t>KI ersetzt nicht Menschen. Menschen mit KI ersetzen Menschen ohne KI.</a:t>
            </a:r>
          </a:p>
          <a:p>
            <a:pPr lvl="0" indent="0">
              <a:buNone/>
            </a:pPr>
            <a:r>
              <a:rPr sz="2000" i="1"/>
              <a:t>— frei nach Andrew Ng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Use-Case-Portfolio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31800" y="1739900"/>
          <a:ext cx="8267700" cy="31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900"/>
                <a:gridCol w="2755900"/>
                <a:gridCol w="2755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Bereich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 Case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Reife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Service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Agent Assist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Marketing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Content-Engine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hoch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Forecasting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Recruiting Copilot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mittel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Anomalie-Erkennung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niedrig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3: Daten &amp; Plattform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Daten als Engpass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35895" y="1888810"/>
            <a:ext cx="4066793" cy="228917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Datenqualität limitiert die meisten Piloten</a:t>
            </a:r>
          </a:p>
          <a:p>
            <a:pPr lvl="0"/>
            <a:r>
              <a:rPr/>
              <a:t>Ownership fehlt fast überall</a:t>
            </a:r>
          </a:p>
          <a:p>
            <a:pPr lvl="0"/>
            <a:r>
              <a:rPr/>
              <a:t>Vektor-DBs werden zur Pflicht</a:t>
            </a:r>
          </a:p>
          <a:p>
            <a:pPr lvl="0"/>
            <a:r>
              <a:rPr/>
              <a:t>Cost-Tracking pro Workflow wird neu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Architektur-Zielbild</a:t>
            </a:r>
          </a:p>
        </p:txBody>
      </p:sp>
      <p:pic>
        <p:nvPicPr>
          <p:cNvPr descr="/tmp/ppthelper_skeleton_placehold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667000" y="1739900"/>
            <a:ext cx="3797300" cy="21336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4: Governance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EU AI Act kompakt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Anwendungspflicht ab 2026 stufenweise</a:t>
            </a:r>
          </a:p>
          <a:p>
            <a:pPr lvl="0"/>
            <a:r>
              <a:rPr/>
              <a:t>High-Risk-Pflichten ab August 2026</a:t>
            </a:r>
          </a:p>
          <a:p>
            <a:pPr lvl="0"/>
            <a:r>
              <a:rPr/>
              <a:t>Dokumentation und Audit-Trail werden Pflicht</a:t>
            </a:r>
          </a:p>
          <a:p>
            <a:pPr lvl="0"/>
            <a:r>
              <a:rPr/>
              <a:t>Schatten-KI ist heute schon ein Risiko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Teil 5: Roadmap &amp; Fazit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12-Monats-Roadmap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31800" y="1739900"/>
          <a:ext cx="8267700" cy="264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5900"/>
                <a:gridCol w="2755900"/>
                <a:gridCol w="27559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Quartal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Fokus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Ergebnis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Strategie &amp; Portfolio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Use-Case-Liste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Plattform &amp; Piloten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produktive MVPs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Skalierung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Rollout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Erfolgsfaktoren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Vorstands-Sponsoring mit klarer Verantwortung</a:t>
            </a:r>
          </a:p>
          <a:p>
            <a:pPr lvl="0"/>
            <a:r>
              <a:rPr/>
              <a:t>Fokus auf wenige, messbare Werthebel</a:t>
            </a:r>
          </a:p>
          <a:p>
            <a:pPr lvl="0"/>
            <a:r>
              <a:rPr/>
              <a:t>Daten- und Prozessarbeit vor Modell-Faszination</a:t>
            </a:r>
          </a:p>
          <a:p>
            <a:pPr lvl="0"/>
            <a:r>
              <a:rPr/>
              <a:t>Governance als Beschleuniger, nicht als Bremse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Fazit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/>
              <a:t>KI ist Organisationsentwicklung, kein IT-Projekt</a:t>
            </a:r>
          </a:p>
          <a:p>
            <a:pPr lvl="0"/>
            <a:r>
              <a:rPr/>
              <a:t>Wettbewerbsvorteil entsteht durch integrierte Workflows</a:t>
            </a:r>
          </a:p>
          <a:p>
            <a:pPr lvl="0"/>
            <a:r>
              <a:rPr/>
              <a:t>Verantwortungsvolle Skalierung braucht Leitplanken</a:t>
            </a:r>
          </a:p>
          <a:p>
            <a:pPr lvl="0"/>
            <a:r>
              <a:rPr/>
              <a:t>Jetzt zählt: priorisieren, produktiv setzen, lernen, skalieren</a:t>
            </a:r>
          </a:p>
        </p:txBody>
      </p:sp>
      <p:sp>
        <p:nvSpPr>
          <p:cNvPr id="1001" name="Slide Number Placeholder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de-DE"/>
              <a:t>1</a:t>
            </a:fld>
          </a:p>
        </p:txBody>
      </p:sp>
    </p:spTree>
  </p:cSld>
</p:sld>
</file>

<file path=ppt/theme/theme1.xml><?xml version="1.0" encoding="utf-8"?>
<a:theme xmlns:a="http://schemas.openxmlformats.org/drawingml/2006/main" name="Dividende">
  <a:themeElements>
    <a:clrScheme name="Dividende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4D1434"/>
      </a:accent1>
      <a:accent2>
        <a:srgbClr val="903163"/>
      </a:accent2>
      <a:accent3>
        <a:srgbClr val="B2324B"/>
      </a:accent3>
      <a:accent4>
        <a:srgbClr val="969FA7"/>
      </a:accent4>
      <a:accent5>
        <a:srgbClr val="66B1CE"/>
      </a:accent5>
      <a:accent6>
        <a:srgbClr val="40619D"/>
      </a:accent6>
      <a:hlink>
        <a:srgbClr val="828282"/>
      </a:hlink>
      <a:folHlink>
        <a:srgbClr val="A5A5A5"/>
      </a:folHlink>
    </a:clrScheme>
    <a:fontScheme name="Dividend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e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C21699FF-00E4-43C8-BBCC-D7E5536C371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Dividende</Template>
  <TotalTime>0</TotalTime>
  <Words>0</Words>
  <Application>Microsoft Office PowerPoint</Application>
  <PresentationFormat>Bildschirmpräsentation (16:9)</PresentationFormat>
  <Paragraphs>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Calibri</vt:lpstr>
      <vt:lpstr>Gill Sans MT</vt:lpstr>
      <vt:lpstr>Wingdings 2</vt:lpstr>
      <vt:lpstr>Dividende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 in Unternehmen</dc:title>
  <dc:creator>Strategie, Wert &amp; Umsetzung</dc:creator>
  <cp:keywords/>
  <dcterms:created xsi:type="dcterms:W3CDTF">2026-05-25T08:27:59Z</dcterms:created>
  <dcterms:modified xsi:type="dcterms:W3CDTF">2026-05-25T08:27:59Z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23. Mai 2026</vt:lpwstr>
  </property>
</Properties>
</file>