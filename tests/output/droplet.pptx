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5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726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32"/>
          <a:sy d="100" n="132"/>
        </p:scale>
        <p:origin x="126" y="26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5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4" Type="http://schemas.openxmlformats.org/officeDocument/2006/relationships/theme" Target="theme/theme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Quellen: McKinsey State of AI 2025, Stanford AI Index 2025, BCG 2024. Konkrete Zahl zur Adoption-Tiefe (1× pro Woche, 1× pro Tag, in Kernprozesse) im Anhang.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Detail-Timeline siehe Greenberg-Traurig 2025 Compliance-Guide. Übergang: “Bevor wir zur Roadmap kommen, kurz zu den Kontrollen…”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Letzte Folie — Schlussbotschaft für die Diskussion: “Wenn wir in 12 Monaten zurückblicken, woran erkennen wir, dass dieses Programm erfolgreich war?”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Title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13259" y="975589"/>
            <a:ext cx="6517482" cy="1881910"/>
          </a:xfrm>
        </p:spPr>
        <p:txBody>
          <a:bodyPr anchor="b">
            <a:normAutofit/>
          </a:bodyPr>
          <a:lstStyle>
            <a:lvl1pPr algn="ctr">
              <a:defRPr sz="36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13259" y="2914651"/>
            <a:ext cx="6517482" cy="1028699"/>
          </a:xfrm>
        </p:spPr>
        <p:txBody>
          <a:bodyPr>
            <a:normAutofit/>
          </a:bodyPr>
          <a:lstStyle>
            <a:lvl1pPr marL="0" indent="0" algn="ctr">
              <a:buNone/>
              <a:defRPr sz="1650">
                <a:solidFill>
                  <a:schemeClr val="bg1">
                    <a:lumMod val="50000"/>
                  </a:schemeClr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21224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685330" y="1775320"/>
            <a:ext cx="7772870" cy="256808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12468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31" y="621423"/>
            <a:ext cx="7763814" cy="2052614"/>
          </a:xfrm>
        </p:spPr>
        <p:txBody>
          <a:bodyPr anchor="b">
            <a:normAutofit/>
          </a:bodyPr>
          <a:lstStyle>
            <a:lvl1pPr>
              <a:defRPr sz="3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331" y="2743093"/>
            <a:ext cx="7763814" cy="1026137"/>
          </a:xfrm>
        </p:spPr>
        <p:txBody>
          <a:bodyPr>
            <a:normAutofit/>
          </a:bodyPr>
          <a:lstStyle>
            <a:lvl1pPr marL="0" indent="0" algn="ctr">
              <a:buNone/>
              <a:defRPr sz="1500">
                <a:solidFill>
                  <a:schemeClr val="bg1">
                    <a:lumMod val="50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74289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685332" y="463888"/>
            <a:ext cx="7773338" cy="119713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685330" y="1775320"/>
            <a:ext cx="3829520" cy="256808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13" name="Content Placeholder 3"/>
          <p:cNvSpPr>
            <a:spLocks noGrp="1"/>
          </p:cNvSpPr>
          <p:nvPr>
            <p:ph sz="quarter" idx="14"/>
          </p:nvPr>
        </p:nvSpPr>
        <p:spPr>
          <a:xfrm>
            <a:off x="4629150" y="1775320"/>
            <a:ext cx="3829050" cy="256808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01316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685332" y="463888"/>
            <a:ext cx="7773338" cy="119713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9746" y="1778263"/>
            <a:ext cx="3655106" cy="509996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195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3"/>
          </p:nvPr>
        </p:nvSpPr>
        <p:spPr>
          <a:xfrm>
            <a:off x="685331" y="2288260"/>
            <a:ext cx="3829520" cy="205514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97317" y="1778263"/>
            <a:ext cx="3661353" cy="509996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195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3" name="Content Placeholder 5"/>
          <p:cNvSpPr>
            <a:spLocks noGrp="1"/>
          </p:cNvSpPr>
          <p:nvPr>
            <p:ph sz="quarter" idx="14"/>
          </p:nvPr>
        </p:nvSpPr>
        <p:spPr>
          <a:xfrm>
            <a:off x="4629150" y="2288260"/>
            <a:ext cx="3829051" cy="205514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94752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98946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28536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31" y="457200"/>
            <a:ext cx="2951766" cy="1517439"/>
          </a:xfrm>
        </p:spPr>
        <p:txBody>
          <a:bodyPr anchor="b"/>
          <a:lstStyle>
            <a:lvl1pPr algn="ctr"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3"/>
          </p:nvPr>
        </p:nvSpPr>
        <p:spPr>
          <a:xfrm>
            <a:off x="3808547" y="457201"/>
            <a:ext cx="4650122" cy="388619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31" y="1974639"/>
            <a:ext cx="2951767" cy="2368761"/>
          </a:xfrm>
        </p:spPr>
        <p:txBody>
          <a:bodyPr/>
          <a:lstStyle>
            <a:lvl1pPr marL="0" indent="0" algn="ctr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9074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31" y="457200"/>
            <a:ext cx="4451227" cy="1517441"/>
          </a:xfrm>
        </p:spPr>
        <p:txBody>
          <a:bodyPr anchor="b"/>
          <a:lstStyle>
            <a:lvl1pPr algn="ctr"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568602" y="457201"/>
            <a:ext cx="2441519" cy="3886200"/>
          </a:xfrm>
          <a:prstGeom prst="roundRect">
            <a:avLst>
              <a:gd name="adj" fmla="val 4943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46" y="1974639"/>
            <a:ext cx="4451212" cy="2368760"/>
          </a:xfrm>
        </p:spPr>
        <p:txBody>
          <a:bodyPr/>
          <a:lstStyle>
            <a:lvl1pPr marL="0" indent="0" algn="ctr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00982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abild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46" y="3217030"/>
            <a:ext cx="7773324" cy="608708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88558" y="523696"/>
            <a:ext cx="7366899" cy="2410602"/>
          </a:xfrm>
          <a:prstGeom prst="roundRect">
            <a:avLst>
              <a:gd name="adj" fmla="val 4944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 algn="ctr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31" y="3831546"/>
            <a:ext cx="7773339" cy="511854"/>
          </a:xfrm>
        </p:spPr>
        <p:txBody>
          <a:bodyPr/>
          <a:lstStyle>
            <a:lvl1pPr marL="0" indent="0" algn="ctr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57232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und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31" y="457200"/>
            <a:ext cx="7773339" cy="2570434"/>
          </a:xfrm>
        </p:spPr>
        <p:txBody>
          <a:bodyPr anchor="ctr"/>
          <a:lstStyle>
            <a:lvl1pPr algn="ctr"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31" y="3153616"/>
            <a:ext cx="7773339" cy="1189785"/>
          </a:xfrm>
        </p:spPr>
        <p:txBody>
          <a:bodyPr anchor="ctr"/>
          <a:lstStyle>
            <a:lvl1pPr marL="0" indent="0" algn="ctr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17725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Zitat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84659" y="457200"/>
            <a:ext cx="6977064" cy="2244678"/>
          </a:xfrm>
        </p:spPr>
        <p:txBody>
          <a:bodyPr anchor="ctr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290484" y="2707524"/>
            <a:ext cx="6564224" cy="446091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31" y="3279597"/>
            <a:ext cx="7773339" cy="106579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sp>
        <p:nvSpPr>
          <p:cNvPr id="13" name="TextBox 12"/>
          <p:cNvSpPr txBox="1"/>
          <p:nvPr/>
        </p:nvSpPr>
        <p:spPr>
          <a:xfrm>
            <a:off x="751116" y="565625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6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18169" y="22451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6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46401909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nskar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31" y="1604041"/>
            <a:ext cx="7773339" cy="1883876"/>
          </a:xfrm>
        </p:spPr>
        <p:txBody>
          <a:bodyPr anchor="b"/>
          <a:lstStyle>
            <a:lvl1pPr algn="ctr"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31" y="3496751"/>
            <a:ext cx="7773339" cy="855483"/>
          </a:xfrm>
        </p:spPr>
        <p:txBody>
          <a:bodyPr anchor="t"/>
          <a:lstStyle>
            <a:lvl1pPr marL="0" indent="0" algn="ctr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559238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Sp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685331" y="457200"/>
            <a:ext cx="7773339" cy="1203821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85331" y="1775320"/>
            <a:ext cx="2474232" cy="432197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5331" y="2207517"/>
            <a:ext cx="2474232" cy="2135884"/>
          </a:xfrm>
        </p:spPr>
        <p:txBody>
          <a:bodyPr anchor="t">
            <a:normAutofit/>
          </a:bodyPr>
          <a:lstStyle>
            <a:lvl1pPr marL="0" indent="0" algn="ctr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339292" y="1775320"/>
            <a:ext cx="2468641" cy="432197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3331012" y="2207517"/>
            <a:ext cx="2477513" cy="2135884"/>
          </a:xfrm>
        </p:spPr>
        <p:txBody>
          <a:bodyPr anchor="t">
            <a:normAutofit/>
          </a:bodyPr>
          <a:lstStyle>
            <a:lvl1pPr marL="0" indent="0" algn="ctr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979974" y="1775320"/>
            <a:ext cx="2478696" cy="432197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5979974" y="2207517"/>
            <a:ext cx="2478696" cy="2135884"/>
          </a:xfrm>
        </p:spPr>
        <p:txBody>
          <a:bodyPr anchor="t">
            <a:normAutofit/>
          </a:bodyPr>
          <a:lstStyle>
            <a:lvl1pPr marL="0" indent="0" algn="ctr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23946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Bildsp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685331" y="458079"/>
            <a:ext cx="7773339" cy="1202942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5331" y="3153615"/>
            <a:ext cx="2472307" cy="432197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165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5331" y="1775320"/>
            <a:ext cx="2472307" cy="1143000"/>
          </a:xfrm>
          <a:prstGeom prst="roundRect">
            <a:avLst>
              <a:gd name="adj" fmla="val 9363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5331" y="3585811"/>
            <a:ext cx="2472307" cy="757589"/>
          </a:xfrm>
        </p:spPr>
        <p:txBody>
          <a:bodyPr anchor="t">
            <a:normAutofit/>
          </a:bodyPr>
          <a:lstStyle>
            <a:lvl1pPr marL="0" indent="0" algn="ctr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332069" y="3153615"/>
            <a:ext cx="2476371" cy="432197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165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331011" y="1775320"/>
            <a:ext cx="2477514" cy="1143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3331011" y="3585811"/>
            <a:ext cx="2477514" cy="757589"/>
          </a:xfrm>
        </p:spPr>
        <p:txBody>
          <a:bodyPr anchor="t">
            <a:normAutofit/>
          </a:bodyPr>
          <a:lstStyle>
            <a:lvl1pPr marL="0" indent="0" algn="ctr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979974" y="3153615"/>
            <a:ext cx="2475511" cy="432197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165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5979974" y="1775320"/>
            <a:ext cx="2478696" cy="1143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5979880" y="3585809"/>
            <a:ext cx="2478790" cy="757591"/>
          </a:xfrm>
        </p:spPr>
        <p:txBody>
          <a:bodyPr anchor="t">
            <a:normAutofit/>
          </a:bodyPr>
          <a:lstStyle>
            <a:lvl1pPr marL="0" indent="0" algn="ctr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454878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1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685331" y="1775320"/>
            <a:ext cx="7773339" cy="2568080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452650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457201"/>
            <a:ext cx="1914995" cy="388619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8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685331" y="457201"/>
            <a:ext cx="5744043" cy="3886199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3058594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1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slideLayouts/slideLayout17.xml" Type="http://schemas.openxmlformats.org/officeDocument/2006/relationships/slideLayout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19" Target="../media/image1.png" Type="http://schemas.openxmlformats.org/officeDocument/2006/relationships/image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" y="-1"/>
            <a:ext cx="9144002" cy="51435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5332" y="463888"/>
            <a:ext cx="7773338" cy="119713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331" y="1775320"/>
            <a:ext cx="7773339" cy="256808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759053" y="4412457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50">
                <a:solidFill>
                  <a:schemeClr val="tx1"/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331" y="4412457"/>
            <a:ext cx="5004665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885509" y="4412457"/>
            <a:ext cx="573161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50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71849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  <p:sldLayoutId id="2147483738" r:id="rId12"/>
    <p:sldLayoutId id="2147483739" r:id="rId13"/>
    <p:sldLayoutId id="2147483740" r:id="rId14"/>
    <p:sldLayoutId id="2147483741" r:id="rId15"/>
    <p:sldLayoutId id="2147483742" r:id="rId16"/>
    <p:sldLayoutId id="2147483743" r:id="rId17"/>
  </p:sldLayoutIdLst>
  <p:txStyles>
    <p:titleStyle>
      <a:lvl1pPr algn="ctr" defTabSz="685800" rtl="0" eaLnBrk="1" latinLnBrk="0" hangingPunct="1">
        <a:lnSpc>
          <a:spcPct val="90000"/>
        </a:lnSpc>
        <a:spcBef>
          <a:spcPct val="0"/>
        </a:spcBef>
        <a:buNone/>
        <a:defRPr sz="2700" kern="1200" cap="all" baseline="0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120000"/>
        </a:lnSpc>
        <a:spcBef>
          <a:spcPts val="750"/>
        </a:spcBef>
        <a:buClr>
          <a:schemeClr val="tx1"/>
        </a:buClr>
        <a:buFont typeface="Arial" panose="020B0604020202020204" pitchFamily="34" charset="0"/>
        <a:buChar char="•"/>
        <a:defRPr sz="15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tx1"/>
        </a:buClr>
        <a:buFont typeface="Arial" panose="020B0604020202020204" pitchFamily="34" charset="0"/>
        <a:buChar char="•"/>
        <a:defRPr sz="135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tx1"/>
        </a:buClr>
        <a:buFont typeface="Arial" panose="020B0604020202020204" pitchFamily="34" charset="0"/>
        <a:buChar char="•"/>
        <a:defRPr sz="12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tx1"/>
        </a:buClr>
        <a:buFont typeface="Arial" panose="020B0604020202020204" pitchFamily="34" charset="0"/>
        <a:buChar char="•"/>
        <a:defRPr sz="105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tx1"/>
        </a:buClr>
        <a:buFont typeface="Arial" panose="020B0604020202020204" pitchFamily="34" charset="0"/>
        <a:buChar char="•"/>
        <a:defRPr sz="105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tx1"/>
        </a:buClr>
        <a:buFont typeface="Arial" panose="020B0604020202020204" pitchFamily="34" charset="0"/>
        <a:buChar char="•"/>
        <a:defRPr sz="105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tx1"/>
        </a:buClr>
        <a:buFont typeface="Arial" panose="020B0604020202020204" pitchFamily="34" charset="0"/>
        <a:buChar char="•"/>
        <a:defRPr sz="105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tx1"/>
        </a:buClr>
        <a:buFont typeface="Arial" panose="020B0604020202020204" pitchFamily="34" charset="0"/>
        <a:buChar char="•"/>
        <a:defRPr sz="105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tx1"/>
        </a:buClr>
        <a:buFont typeface="Arial" panose="020B0604020202020204" pitchFamily="34" charset="0"/>
        <a:buChar char="•"/>
        <a:defRPr sz="105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 in Unternehmen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Strategie, Wert &amp; Umsetzung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23. Mai 2026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pPr lvl="0" indent="-342900" marL="342900">
              <a:buAutoNum type="arabicPeriod"/>
            </a:pPr>
            <a:r>
              <a:rPr/>
              <a:t>Marktdynamik</a:t>
            </a:r>
          </a:p>
          <a:p>
            <a:pPr lvl="0" indent="-342900" marL="342900">
              <a:buAutoNum startAt="2" type="arabicPeriod"/>
            </a:pPr>
            <a:r>
              <a:rPr/>
              <a:t>Werthebel</a:t>
            </a:r>
          </a:p>
          <a:p>
            <a:pPr lvl="0" indent="-342900" marL="342900">
              <a:buAutoNum startAt="3" type="arabicPeriod"/>
            </a:pPr>
            <a:r>
              <a:rPr/>
              <a:t>Daten &amp; Plattform</a:t>
            </a:r>
          </a:p>
          <a:p>
            <a:pPr lvl="0" indent="-342900" marL="342900">
              <a:buAutoNum startAt="4" type="arabicPeriod"/>
            </a:pPr>
            <a:r>
              <a:rPr/>
              <a:t>Governance</a:t>
            </a:r>
          </a:p>
          <a:p>
            <a:pPr lvl="0" indent="-342900" marL="342900">
              <a:buAutoNum startAt="5" type="arabicPeriod"/>
            </a:pPr>
            <a:r>
              <a:rPr/>
              <a:t>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1: Marktdynamik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Adoption steigt rasant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78 % der Unternehmen nutzen GenAI wöchentlich</a:t>
            </a:r>
          </a:p>
          <a:p>
            <a:pPr lvl="0"/>
            <a:r>
              <a:rPr/>
              <a:t>Pilot-zu-Produktion bleibt das Nadelöhr</a:t>
            </a:r>
          </a:p>
          <a:p>
            <a:pPr lvl="0"/>
            <a:r>
              <a:rPr/>
              <a:t>Investitionen verdoppeln sich jedes Jahr</a:t>
            </a:r>
          </a:p>
          <a:p>
            <a:pPr lvl="0"/>
            <a:r>
              <a:rPr/>
              <a:t>Skill-Gap wird zur Engpass-Disziplin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Markttrends 2026 im 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85330" y="1981555"/>
            <a:ext cx="3829520" cy="215561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14" sz="half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Agentic AI verlässt das Lab</a:t>
            </a:r>
          </a:p>
          <a:p>
            <a:pPr lvl="0"/>
            <a:r>
              <a:rPr/>
              <a:t>Multimodale Modelle werden Standard</a:t>
            </a:r>
          </a:p>
          <a:p>
            <a:pPr lvl="0"/>
            <a:r>
              <a:rPr/>
              <a:t>On-Device-Inferenz für sensible Daten</a:t>
            </a:r>
          </a:p>
          <a:p>
            <a:pPr lvl="0"/>
            <a:r>
              <a:rPr/>
              <a:t>Open-Source-Modelle holen auf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Kernzahlen 2024–2026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73100" y="1765300"/>
          <a:ext cx="77724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43100"/>
                <a:gridCol w="1943100"/>
                <a:gridCol w="1943100"/>
                <a:gridCol w="1943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Indikator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KI-Nutzung (wöchentlich)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56 %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71 %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Skalierte Use Cases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26 %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KI-Investitionen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180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252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320 Mrd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Skills-Gap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Governance-Reife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2: Werthebel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 Wert entsteht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 sz="half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Umsatz: Pricing, Sales, Cross-Sell</a:t>
            </a:r>
          </a:p>
          <a:p>
            <a:pPr lvl="0"/>
            <a:r>
              <a:rPr/>
              <a:t>Kosten: Automation und Qualität</a:t>
            </a:r>
          </a:p>
          <a:p>
            <a:pPr lvl="0"/>
            <a:r>
              <a:rPr/>
              <a:t>Tempo: kürzere Zyklen, weniger Rework</a:t>
            </a:r>
          </a:p>
          <a:p>
            <a:pPr lvl="0"/>
            <a:r>
              <a:rPr/>
              <a:t>Innovation: neue Produkte &amp; Services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29150" y="1981687"/>
            <a:ext cx="3829050" cy="2155346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Andrew Ng sagt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2"/>
          </p:nvPr>
        </p:nvSpPr>
        <p:spPr/>
        <p:txBody>
          <a:bodyPr>
            <a:normAutofit/>
          </a:bodyPr>
          <a:lstStyle/>
          <a:p>
            <a:pPr lvl="0" indent="0">
              <a:buNone/>
            </a:pPr>
            <a:r>
              <a:rPr sz="2000"/>
              <a:t>KI ersetzt nicht Menschen. Menschen mit KI ersetzen Menschen ohne KI.</a:t>
            </a:r>
          </a:p>
          <a:p>
            <a:pPr lvl="0" indent="0">
              <a:buNone/>
            </a:pPr>
            <a:r>
              <a:rPr sz="2000"/>
              <a:t>— frei nach Andrew Ng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Use-Case-Portfolio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73100" y="1765300"/>
          <a:ext cx="77724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800"/>
                <a:gridCol w="2590800"/>
                <a:gridCol w="2590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Bereich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Reife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Agent Assist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Marketing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Content-Engine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Forecasting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Recruiting Copilot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Anomalie-Erkennung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3: Daten &amp; Plattform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 als Engpass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85330" y="1981555"/>
            <a:ext cx="3829520" cy="215561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14" sz="half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Datenqualität limitiert die meisten Piloten</a:t>
            </a:r>
          </a:p>
          <a:p>
            <a:pPr lvl="0"/>
            <a:r>
              <a:rPr/>
              <a:t>Ownership fehlt fast überall</a:t>
            </a:r>
          </a:p>
          <a:p>
            <a:pPr lvl="0"/>
            <a:r>
              <a:rPr/>
              <a:t>Vektor-DBs werden zur Pflicht</a:t>
            </a:r>
          </a:p>
          <a:p>
            <a:pPr lvl="0"/>
            <a:r>
              <a:rPr/>
              <a:t>Cost-Tracking pro Workflow wird neu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Architektur-Zielbild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30500" y="1765300"/>
            <a:ext cx="3657600" cy="2057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4: Governance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EU AI Act kompakt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Anwendungspflicht ab 2026 stufenweise</a:t>
            </a:r>
          </a:p>
          <a:p>
            <a:pPr lvl="0"/>
            <a:r>
              <a:rPr/>
              <a:t>High-Risk-Pflichten ab August 2026</a:t>
            </a:r>
          </a:p>
          <a:p>
            <a:pPr lvl="0"/>
            <a:r>
              <a:rPr/>
              <a:t>Dokumentation und Audit-Trail werden Pflicht</a:t>
            </a:r>
          </a:p>
          <a:p>
            <a:pPr lvl="0"/>
            <a:r>
              <a:rPr/>
              <a:t>Schatten-KI ist heute schon ein Risiko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5: 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12-Monats-Roadmap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73100" y="1765300"/>
          <a:ext cx="7772400" cy="2565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800"/>
                <a:gridCol w="2590800"/>
                <a:gridCol w="2590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Fokus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Ergebnis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Strategie &amp; Portfolio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Use-Case-Liste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Plattform &amp; Piloten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produktive MVPs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Rollout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Erfolgsfaktoren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Vorstands-Sponsoring mit klarer Verantwortung</a:t>
            </a:r>
          </a:p>
          <a:p>
            <a:pPr lvl="0"/>
            <a:r>
              <a:rPr/>
              <a:t>Fokus auf wenige, messbare Werthebel</a:t>
            </a:r>
          </a:p>
          <a:p>
            <a:pPr lvl="0"/>
            <a:r>
              <a:rPr/>
              <a:t>Daten- und Prozessarbeit vor Modell-Faszination</a:t>
            </a:r>
          </a:p>
          <a:p>
            <a:pPr lvl="0"/>
            <a:r>
              <a:rPr/>
              <a:t>Governance als Beschleuniger, nicht als Bremse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Fazit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KI ist Organisationsentwicklung, kein IT-Projekt</a:t>
            </a:r>
          </a:p>
          <a:p>
            <a:pPr lvl="0"/>
            <a:r>
              <a:rPr/>
              <a:t>Wettbewerbsvorteil entsteht durch integrierte Workflows</a:t>
            </a:r>
          </a:p>
          <a:p>
            <a:pPr lvl="0"/>
            <a:r>
              <a:rPr/>
              <a:t>Verantwortungsvolle Skalierung braucht Leitplanken</a:t>
            </a:r>
          </a:p>
          <a:p>
            <a:pPr lvl="0"/>
            <a:r>
              <a:rPr/>
              <a:t>Jetzt zählt: priorisieren, produktiv setzen, lernen, skalieren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theme/theme1.xml><?xml version="1.0" encoding="utf-8"?>
<a:theme xmlns:a="http://schemas.openxmlformats.org/drawingml/2006/main" name="Tropfen">
  <a:themeElements>
    <a:clrScheme name="Tropfen">
      <a:dk1>
        <a:sysClr val="windowText" lastClr="000000"/>
      </a:dk1>
      <a:lt1>
        <a:sysClr val="window" lastClr="FFFFFF"/>
      </a:lt1>
      <a:dk2>
        <a:srgbClr val="355071"/>
      </a:dk2>
      <a:lt2>
        <a:srgbClr val="AABED7"/>
      </a:lt2>
      <a:accent1>
        <a:srgbClr val="2FA3EE"/>
      </a:accent1>
      <a:accent2>
        <a:srgbClr val="4BCAAD"/>
      </a:accent2>
      <a:accent3>
        <a:srgbClr val="86C157"/>
      </a:accent3>
      <a:accent4>
        <a:srgbClr val="D99C3F"/>
      </a:accent4>
      <a:accent5>
        <a:srgbClr val="CE6633"/>
      </a:accent5>
      <a:accent6>
        <a:srgbClr val="A35DD1"/>
      </a:accent6>
      <a:hlink>
        <a:srgbClr val="56BCFE"/>
      </a:hlink>
      <a:folHlink>
        <a:srgbClr val="97C5E3"/>
      </a:folHlink>
    </a:clrScheme>
    <a:fontScheme name="Tropfen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ropfen">
      <a:fillStyleLst>
        <a:solidFill>
          <a:schemeClr val="phClr"/>
        </a:solidFill>
        <a:solidFill>
          <a:schemeClr val="phClr">
            <a:tint val="69000"/>
            <a:satMod val="105000"/>
            <a:lumMod val="110000"/>
          </a:schemeClr>
        </a:solidFill>
        <a:gradFill rotWithShape="1">
          <a:gsLst>
            <a:gs pos="0">
              <a:schemeClr val="phClr">
                <a:tint val="94000"/>
                <a:satMod val="100000"/>
                <a:lumMod val="108000"/>
              </a:schemeClr>
            </a:gs>
            <a:gs pos="50000">
              <a:schemeClr val="phClr">
                <a:tint val="98000"/>
                <a:shade val="100000"/>
                <a:satMod val="100000"/>
                <a:lumMod val="100000"/>
              </a:schemeClr>
            </a:gs>
            <a:gs pos="100000">
              <a:schemeClr val="phClr">
                <a:shade val="72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60000"/>
            </a:schemeClr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28000"/>
              </a:srgbClr>
            </a:outerShdw>
          </a:effectLst>
        </a:effectStyle>
        <a:effectStyle>
          <a:effectLst>
            <a:outerShdw blurRad="63500" dist="25400" dir="5400000" algn="ctr" rotWithShape="0">
              <a:srgbClr val="000000">
                <a:alpha val="69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200000"/>
            </a:lightRig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4000"/>
                <a:shade val="100000"/>
                <a:hueMod val="130000"/>
                <a:satMod val="150000"/>
                <a:lumMod val="112000"/>
              </a:schemeClr>
            </a:gs>
            <a:gs pos="100000">
              <a:schemeClr val="phClr">
                <a:shade val="92000"/>
                <a:satMod val="140000"/>
                <a:lumMod val="11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roplet" id="{8984A317-299A-4E50-B45D-BFC9EDE2337A}" vid="{A633B6A3-9E7F-4C10-9C98-2517A313436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Tropfen</Template>
  <TotalTime>0</TotalTime>
  <Words>0</Words>
  <Application>Microsoft Office PowerPoint</Application>
  <PresentationFormat>Bildschirmpräsentation (16:9)</PresentationFormat>
  <Paragraphs>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5" baseType="lpstr">
      <vt:lpstr>Arial</vt:lpstr>
      <vt:lpstr>Calibri</vt:lpstr>
      <vt:lpstr>Tw Cen MT</vt:lpstr>
      <vt:lpstr>Tropfen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 in Unternehmen</dc:title>
  <dc:creator>Strategie, Wert &amp; Umsetzung</dc:creator>
  <cp:keywords/>
  <dcterms:created xsi:type="dcterms:W3CDTF">2026-05-25T08:28:00Z</dcterms:created>
  <dcterms:modified xsi:type="dcterms:W3CDTF">2026-05-25T08:28:00Z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23. Mai 2026</vt:lpwstr>
  </property>
</Properties>
</file>