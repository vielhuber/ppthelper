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2.xml" ContentType="application/vnd.openxmlformats-officedocument.theme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726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41"/>
          <a:sy d="100" n="141"/>
        </p:scale>
        <p:origin x="744" y="11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5" Type="http://schemas.openxmlformats.org/officeDocument/2006/relationships/tableStyles" Target="tableStyles.xml" /><Relationship Id="rId1" Type="http://schemas.openxmlformats.org/officeDocument/2006/relationships/slideMaster" Target="slideMasters/slideMaster1.xml" /><Relationship Id="rId24" Type="http://schemas.openxmlformats.org/officeDocument/2006/relationships/theme" Target="theme/theme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5/23/2026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Quellen: McKinsey State of AI 2025, Stanford AI Index 2025, BCG 2024. Konkrete Zahl zur Adoption-Tiefe (1× pro Woche, 1× pro Tag, in Kernprozesse) im Anhang.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Detail-Timeline siehe Greenberg-Traurig 2025 Compliance-Guide. Übergang: “Bevor wir zur Roadmap kommen, kurz zu den Kontrollen…”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Letzte Folie — Schlussbotschaft für die Diskussion: “Wenn wir in 12 Monaten zurückblicken, woran erkennen wir, dass dieses Programm erfolgreich war?”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13259" y="457201"/>
            <a:ext cx="6507167" cy="2400300"/>
          </a:xfrm>
        </p:spPr>
        <p:txBody>
          <a:bodyPr anchor="b">
            <a:normAutofit/>
          </a:bodyPr>
          <a:lstStyle>
            <a:lvl1pPr algn="ctr">
              <a:defRPr sz="3600">
                <a:effectLst>
                  <a:glow rad="38100">
                    <a:schemeClr val="bg1">
                      <a:lumMod val="65000"/>
                      <a:lumOff val="35000"/>
                      <a:alpha val="50000"/>
                    </a:schemeClr>
                  </a:glow>
                  <a:outerShdw blurRad="28575" dist="31750" dir="132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13259" y="2914650"/>
            <a:ext cx="6507167" cy="1428750"/>
          </a:xfrm>
        </p:spPr>
        <p:txBody>
          <a:bodyPr anchor="t">
            <a:normAutofit/>
          </a:bodyPr>
          <a:lstStyle>
            <a:lvl1pPr marL="0" indent="0" algn="ctr">
              <a:buNone/>
              <a:defRPr sz="1575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28841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95109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13260" y="2481436"/>
            <a:ext cx="6515100" cy="1101600"/>
          </a:xfrm>
        </p:spPr>
        <p:txBody>
          <a:bodyPr anchor="b"/>
          <a:lstStyle>
            <a:lvl1pPr algn="r">
              <a:defRPr sz="3000" b="0" cap="all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13259" y="3583036"/>
            <a:ext cx="6515101" cy="645300"/>
          </a:xfrm>
        </p:spPr>
        <p:txBody>
          <a:bodyPr anchor="t">
            <a:normAutofit/>
          </a:bodyPr>
          <a:lstStyle>
            <a:lvl1pPr marL="0" indent="0" algn="r">
              <a:buNone/>
              <a:defRPr sz="15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16842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56059" y="2000250"/>
            <a:ext cx="3657600" cy="2343151"/>
          </a:xfrm>
        </p:spPr>
        <p:txBody>
          <a:bodyPr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7959" y="2000250"/>
            <a:ext cx="3657600" cy="2343150"/>
          </a:xfrm>
        </p:spPr>
        <p:txBody>
          <a:bodyPr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04399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71961" y="1993900"/>
            <a:ext cx="3441698" cy="432197"/>
          </a:xfrm>
        </p:spPr>
        <p:txBody>
          <a:bodyPr anchor="b">
            <a:noAutofit/>
          </a:bodyPr>
          <a:lstStyle>
            <a:lvl1pPr marL="0" indent="0">
              <a:buNone/>
              <a:defRPr sz="21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56059" y="2432447"/>
            <a:ext cx="3657600" cy="1910953"/>
          </a:xfrm>
        </p:spPr>
        <p:txBody>
          <a:bodyPr anchor="t"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32350" y="2000250"/>
            <a:ext cx="3453210" cy="432197"/>
          </a:xfrm>
        </p:spPr>
        <p:txBody>
          <a:bodyPr anchor="b">
            <a:noAutofit/>
          </a:bodyPr>
          <a:lstStyle>
            <a:lvl1pPr marL="0" indent="0">
              <a:buNone/>
              <a:defRPr sz="21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7959" y="2432447"/>
            <a:ext cx="3657601" cy="1910953"/>
          </a:xfrm>
        </p:spPr>
        <p:txBody>
          <a:bodyPr anchor="t">
            <a:normAutofit/>
          </a:bodyPr>
          <a:lstStyle>
            <a:lvl1pPr>
              <a:defRPr sz="1350"/>
            </a:lvl1pPr>
            <a:lvl2pPr>
              <a:defRPr sz="1200"/>
            </a:lvl2pPr>
            <a:lvl3pPr>
              <a:defRPr sz="1050"/>
            </a:lvl3pPr>
            <a:lvl4pPr>
              <a:defRPr sz="900"/>
            </a:lvl4pPr>
            <a:lvl5pPr>
              <a:defRPr sz="900"/>
            </a:lvl5pPr>
            <a:lvl6pPr>
              <a:defRPr sz="900"/>
            </a:lvl6pPr>
            <a:lvl7pPr>
              <a:defRPr sz="900"/>
            </a:lvl7pPr>
            <a:lvl8pPr>
              <a:defRPr sz="900"/>
            </a:lvl8pPr>
            <a:lvl9pPr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675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40411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37705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9" y="1200150"/>
            <a:ext cx="2661841" cy="1028700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27859" y="457201"/>
            <a:ext cx="4457701" cy="3886200"/>
          </a:xfrm>
        </p:spPr>
        <p:txBody>
          <a:bodyPr anchor="ctr">
            <a:normAutofit/>
          </a:bodyPr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  <a:lvl6pPr>
              <a:defRPr sz="1050"/>
            </a:lvl6pPr>
            <a:lvl7pPr>
              <a:defRPr sz="1050"/>
            </a:lvl7pPr>
            <a:lvl8pPr>
              <a:defRPr sz="1050"/>
            </a:lvl8pPr>
            <a:lvl9pPr>
              <a:defRPr sz="105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59" y="2228850"/>
            <a:ext cx="2661841" cy="1371600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2302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9" y="1200150"/>
            <a:ext cx="4000501" cy="1028700"/>
          </a:xfrm>
        </p:spPr>
        <p:txBody>
          <a:bodyPr anchor="b">
            <a:normAutofit/>
          </a:bodyPr>
          <a:lstStyle>
            <a:lvl1pPr algn="l">
              <a:defRPr sz="21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75300" y="-13716"/>
            <a:ext cx="2457449" cy="5177790"/>
          </a:xfr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080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59" y="2228850"/>
            <a:ext cx="4000501" cy="1371600"/>
          </a:xfrm>
        </p:spPr>
        <p:txBody>
          <a:bodyPr>
            <a:normAutofit/>
          </a:bodyPr>
          <a:lstStyle>
            <a:lvl1pPr marL="0" indent="0">
              <a:buNone/>
              <a:defRPr sz="13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799409" y="4412457"/>
            <a:ext cx="685800" cy="273844"/>
          </a:xfrm>
        </p:spPr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856059" y="4412457"/>
            <a:ext cx="3829050" cy="273844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8056960" y="4412457"/>
            <a:ext cx="241925" cy="273844"/>
          </a:xfrm>
        </p:spPr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967412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60" y="3549649"/>
            <a:ext cx="7429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484709" y="699084"/>
            <a:ext cx="6169458" cy="2373732"/>
          </a:xfrm>
          <a:prstGeom prst="roundRect">
            <a:avLst>
              <a:gd name="adj" fmla="val 4380"/>
            </a:avLst>
          </a:prstGeom>
          <a:ln w="38100">
            <a:gradFill flip="none" rotWithShape="1">
              <a:gsLst>
                <a:gs pos="0">
                  <a:schemeClr val="bg2"/>
                </a:gs>
                <a:gs pos="100000">
                  <a:schemeClr val="bg2">
                    <a:lumMod val="75000"/>
                  </a:schemeClr>
                </a:gs>
              </a:gsLst>
              <a:lin ang="5400000" scaled="0"/>
              <a:tileRect/>
            </a:gra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56060" y="3974702"/>
            <a:ext cx="7429500" cy="370284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0070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60" y="457201"/>
            <a:ext cx="7429499" cy="2343149"/>
          </a:xfrm>
        </p:spPr>
        <p:txBody>
          <a:bodyPr anchor="ctr">
            <a:normAutofit/>
          </a:bodyPr>
          <a:lstStyle>
            <a:lvl1pPr algn="l">
              <a:defRPr sz="2400" b="0" cap="all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058" y="3257550"/>
            <a:ext cx="7429500" cy="1085850"/>
          </a:xfrm>
        </p:spPr>
        <p:txBody>
          <a:bodyPr anchor="ctr">
            <a:normAutofit/>
          </a:bodyPr>
          <a:lstStyle>
            <a:lvl1pPr marL="0" indent="0" algn="l">
              <a:buNone/>
              <a:defRPr sz="15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513255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627459" y="590118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6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28359" y="2057400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6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60" y="457201"/>
            <a:ext cx="6972299" cy="2057399"/>
          </a:xfrm>
        </p:spPr>
        <p:txBody>
          <a:bodyPr anchor="ctr">
            <a:normAutofit/>
          </a:bodyPr>
          <a:lstStyle>
            <a:lvl1pPr algn="l">
              <a:defRPr sz="2400" b="0" cap="all">
                <a:solidFill>
                  <a:schemeClr val="tx1"/>
                </a:soli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256109" y="2514600"/>
            <a:ext cx="6629402" cy="28575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058" y="3257550"/>
            <a:ext cx="7429500" cy="108585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buNone/>
              <a:defRPr lang="en-US" sz="15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616723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59" y="2481436"/>
            <a:ext cx="7429500" cy="1101600"/>
          </a:xfrm>
        </p:spPr>
        <p:txBody>
          <a:bodyPr anchor="b">
            <a:normAutofit/>
          </a:bodyPr>
          <a:lstStyle>
            <a:lvl1pPr algn="l">
              <a:defRPr sz="2400" b="0" cap="all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058" y="3583036"/>
            <a:ext cx="7429501" cy="645300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150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pPr marL="0" lvl="0" indent="0"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851866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 für Zita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/>
          <p:cNvSpPr txBox="1"/>
          <p:nvPr/>
        </p:nvSpPr>
        <p:spPr>
          <a:xfrm>
            <a:off x="627459" y="590118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6000" dirty="0">
                <a:solidFill>
                  <a:schemeClr val="accent1"/>
                </a:solidFill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28359" y="2057400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6000" dirty="0">
                <a:solidFill>
                  <a:schemeClr val="accent1"/>
                </a:solidFill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84660" y="457201"/>
            <a:ext cx="6972299" cy="2057399"/>
          </a:xfrm>
        </p:spPr>
        <p:txBody>
          <a:bodyPr anchor="ctr">
            <a:normAutofit/>
          </a:bodyPr>
          <a:lstStyle>
            <a:lvl1pPr algn="l">
              <a:defRPr sz="2400" b="0" cap="all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856059" y="2914650"/>
            <a:ext cx="7429500" cy="66675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18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058" y="3581400"/>
            <a:ext cx="7429500" cy="762000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145204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Wahr oder Fals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6060" y="457201"/>
            <a:ext cx="7429499" cy="2057399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856059" y="2628900"/>
            <a:ext cx="7429500" cy="62865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100" b="0" cap="all" dirty="0">
                <a:ln w="3175" cmpd="sng">
                  <a:noFill/>
                </a:ln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de-DE"/>
              <a:t>Mastertextformat bearbeiten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058" y="3257550"/>
            <a:ext cx="7429500" cy="1085850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gradFill flip="none" rotWithShape="1">
                  <a:gsLst>
                    <a:gs pos="0">
                      <a:schemeClr val="tx1"/>
                    </a:gs>
                    <a:gs pos="100000">
                      <a:schemeClr val="tx1">
                        <a:lumMod val="75000"/>
                      </a:schemeClr>
                    </a:gs>
                  </a:gsLst>
                  <a:lin ang="5400000" scaled="0"/>
                  <a:tileRect/>
                </a:gra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948501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1"/>
          <p:cNvSpPr>
            <a:spLocks noGrp="1"/>
          </p:cNvSpPr>
          <p:nvPr>
            <p:ph type="title"/>
          </p:nvPr>
        </p:nvSpPr>
        <p:spPr>
          <a:xfrm>
            <a:off x="856060" y="457200"/>
            <a:ext cx="7429499" cy="1428750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413254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7673" y="457200"/>
            <a:ext cx="1657886" cy="3886201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56059" y="457200"/>
            <a:ext cx="5657850" cy="3886200"/>
          </a:xfrm>
        </p:spPr>
        <p:txBody>
          <a:bodyPr vert="eaVert" anchor="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58541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18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slideLayouts/slideLayout17.xml" Type="http://schemas.openxmlformats.org/officeDocument/2006/relationships/slideLayout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56060" y="457200"/>
            <a:ext cx="7429499" cy="14287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56060" y="2000250"/>
            <a:ext cx="7429499" cy="2343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628209" y="4412457"/>
            <a:ext cx="120015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5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r>
              <a:rPr lang="de-DE"/>
              <a:t>21.05.2026</a:t>
            </a:r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56059" y="4412457"/>
            <a:ext cx="565785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675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885510" y="4412457"/>
            <a:ext cx="413375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675" b="1" i="0">
                <a:solidFill>
                  <a:schemeClr val="tx1">
                    <a:lumMod val="75000"/>
                  </a:schemeClr>
                </a:solidFill>
                <a:effectLst>
                  <a:outerShdw blurRad="50800" dist="38100" dir="2700000" algn="tl" rotWithShape="0">
                    <a:srgbClr val="000000">
                      <a:alpha val="43000"/>
                    </a:srgbClr>
                  </a:outerShdw>
                </a:effectLst>
                <a:latin typeface="+mn-lt"/>
              </a:defRPr>
            </a:lvl1pPr>
          </a:lstStyle>
          <a:p>
            <a:fld id="{C5EF2332-01BF-834F-8236-50238282D533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763604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27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  <p:sldLayoutId id="2147483736" r:id="rId10"/>
    <p:sldLayoutId id="2147483737" r:id="rId11"/>
    <p:sldLayoutId id="2147483738" r:id="rId12"/>
    <p:sldLayoutId id="2147483739" r:id="rId13"/>
    <p:sldLayoutId id="2147483740" r:id="rId14"/>
    <p:sldLayoutId id="2147483741" r:id="rId15"/>
    <p:sldLayoutId id="2147483742" r:id="rId16"/>
    <p:sldLayoutId id="2147483743" r:id="rId17"/>
  </p:sldLayoutIdLst>
  <p:txStyles>
    <p:titleStyle>
      <a:lvl1pPr algn="l" defTabSz="342900" rtl="0" eaLnBrk="1" latinLnBrk="0" hangingPunct="1">
        <a:spcBef>
          <a:spcPct val="0"/>
        </a:spcBef>
        <a:buNone/>
        <a:defRPr sz="2400" kern="1200" cap="all">
          <a:ln w="3175" cmpd="sng">
            <a:noFill/>
          </a:ln>
          <a:gradFill flip="none" rotWithShape="1">
            <a:gsLst>
              <a:gs pos="0">
                <a:schemeClr val="tx1"/>
              </a:gs>
              <a:gs pos="100000">
                <a:schemeClr val="tx1">
                  <a:lumMod val="6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65000"/>
                <a:lumOff val="35000"/>
                <a:alpha val="40000"/>
              </a:schemeClr>
            </a:glow>
            <a:outerShdw blurRad="28575" dist="38100" dir="1404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14313" indent="-214313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100000"/>
        <a:buFont typeface="Arial"/>
        <a:buChar char="•"/>
        <a:defRPr sz="15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1pPr>
      <a:lvl2pPr marL="557213" indent="-214313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100000"/>
        <a:buFont typeface="Arial"/>
        <a:buChar char="•"/>
        <a:defRPr sz="135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2pPr>
      <a:lvl3pPr marL="900113" indent="-214313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100000"/>
        <a:buFont typeface="Arial"/>
        <a:buChar char="•"/>
        <a:defRPr sz="12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3pPr>
      <a:lvl4pPr marL="1157288" indent="-128588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100000"/>
        <a:buFont typeface="Arial"/>
        <a:buChar char="•"/>
        <a:defRPr sz="105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4pPr>
      <a:lvl5pPr marL="1500188" indent="-128588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100000"/>
        <a:buFont typeface="Arial"/>
        <a:buChar char="•"/>
        <a:defRPr sz="105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5pPr>
      <a:lvl6pPr marL="18859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100000"/>
        <a:buFont typeface="Arial"/>
        <a:buChar char="•"/>
        <a:defRPr sz="9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6pPr>
      <a:lvl7pPr marL="22288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100000"/>
        <a:buFont typeface="Arial"/>
        <a:buChar char="•"/>
        <a:defRPr sz="9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7pPr>
      <a:lvl8pPr marL="25717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100000"/>
        <a:buFont typeface="Arial"/>
        <a:buChar char="•"/>
        <a:defRPr sz="9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8pPr>
      <a:lvl9pPr marL="2914650" indent="-171450" algn="l" defTabSz="342900" rtl="0" eaLnBrk="1" latinLnBrk="0" hangingPunct="1">
        <a:spcBef>
          <a:spcPct val="20000"/>
        </a:spcBef>
        <a:spcAft>
          <a:spcPts val="450"/>
        </a:spcAft>
        <a:buClr>
          <a:schemeClr val="tx1"/>
        </a:buClr>
        <a:buSzPct val="100000"/>
        <a:buFont typeface="Arial"/>
        <a:buChar char="•"/>
        <a:defRPr sz="900" kern="1200" cap="small">
          <a:gradFill flip="none" rotWithShape="1">
            <a:gsLst>
              <a:gs pos="0">
                <a:schemeClr val="tx1"/>
              </a:gs>
              <a:gs pos="100000">
                <a:schemeClr val="tx1">
                  <a:lumMod val="75000"/>
                </a:schemeClr>
              </a:gs>
            </a:gsLst>
            <a:lin ang="5580000" scaled="0"/>
            <a:tileRect/>
          </a:gradFill>
          <a:effectLst>
            <a:glow rad="38100">
              <a:schemeClr val="bg1">
                <a:lumMod val="50000"/>
                <a:lumOff val="50000"/>
                <a:alpha val="20000"/>
              </a:schemeClr>
            </a:glow>
            <a:outerShdw blurRad="44450" dist="12700" dir="13860000" algn="tl" rotWithShape="0">
              <a:srgbClr val="000000">
                <a:alpha val="20000"/>
              </a:srgb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3429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KI in Unternehmen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Strategie, Wert &amp; Umsetzung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23. Mai 2026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-342900" marL="342900">
              <a:buAutoNum type="arabicPeriod"/>
            </a:pPr>
            <a:r>
              <a:rPr/>
              <a:t>Marktdynamik</a:t>
            </a:r>
          </a:p>
          <a:p>
            <a:pPr lvl="0" indent="-342900" marL="342900">
              <a:buAutoNum startAt="2" type="arabicPeriod"/>
            </a:pPr>
            <a:r>
              <a:rPr/>
              <a:t>Werthebel</a:t>
            </a:r>
          </a:p>
          <a:p>
            <a:pPr lvl="0" indent="-342900" marL="342900">
              <a:buAutoNum startAt="3" type="arabicPeriod"/>
            </a:pPr>
            <a:r>
              <a:rPr/>
              <a:t>Daten &amp; Plattform</a:t>
            </a:r>
          </a:p>
          <a:p>
            <a:pPr lvl="0" indent="-342900" marL="342900">
              <a:buAutoNum startAt="4" type="arabicPeriod"/>
            </a:pPr>
            <a:r>
              <a:rPr/>
              <a:t>Governance</a:t>
            </a:r>
          </a:p>
          <a:p>
            <a:pPr lvl="0" indent="-342900" marL="342900">
              <a:buAutoNum startAt="5" type="arabicPeriod"/>
            </a:pPr>
            <a:r>
              <a:rPr/>
              <a:t>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1: Marktdynamik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Adoption steigt rasant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78 % der Unternehmen nutzen GenAI wöchentlich</a:t>
            </a:r>
          </a:p>
          <a:p>
            <a:pPr lvl="0"/>
            <a:r>
              <a:rPr/>
              <a:t>Pilot-zu-Produktion bleibt das Nadelöhr</a:t>
            </a:r>
          </a:p>
          <a:p>
            <a:pPr lvl="0"/>
            <a:r>
              <a:rPr/>
              <a:t>Investitionen verdoppeln sich jedes Jahr</a:t>
            </a:r>
          </a:p>
          <a:p>
            <a:pPr lvl="0"/>
            <a:r>
              <a:rPr/>
              <a:t>Skill-Gap wird zur Engpass-Disziplin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Markttrends 2026 im 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56059" y="2142406"/>
            <a:ext cx="3657600" cy="2058838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Agentic AI verlässt das Lab</a:t>
            </a:r>
          </a:p>
          <a:p>
            <a:pPr lvl="0"/>
            <a:r>
              <a:rPr/>
              <a:t>Multimodale Modelle werden Standard</a:t>
            </a:r>
          </a:p>
          <a:p>
            <a:pPr lvl="0"/>
            <a:r>
              <a:rPr/>
              <a:t>On-Device-Inferenz für sensible Daten</a:t>
            </a:r>
          </a:p>
          <a:p>
            <a:pPr lvl="0"/>
            <a:r>
              <a:rPr/>
              <a:t>Open-Source-Modelle holen auf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Kernzahlen 2024–2026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50900" y="1993900"/>
          <a:ext cx="74168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54200"/>
                <a:gridCol w="1854200"/>
                <a:gridCol w="1854200"/>
                <a:gridCol w="1854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Indikator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2026e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KI-Nutzung (wöchentlich)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56 %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71 %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Skalierte Use Cases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19 %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26 %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KI-Investitionen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180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252 Mrd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320 Mrd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Skills-Gap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Governance-Reife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2: Werthebel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 Wert entsteht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Umsatz: Pricing, Sales, Cross-Sell</a:t>
            </a:r>
          </a:p>
          <a:p>
            <a:pPr lvl="0"/>
            <a:r>
              <a:rPr/>
              <a:t>Kosten: Automation und Qualität</a:t>
            </a:r>
          </a:p>
          <a:p>
            <a:pPr lvl="0"/>
            <a:r>
              <a:rPr/>
              <a:t>Tempo: kürzere Zyklen, weniger Rework</a:t>
            </a:r>
          </a:p>
          <a:p>
            <a:pPr lvl="0"/>
            <a:r>
              <a:rPr/>
              <a:t>Innovation: neue Produkte &amp; Services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27959" y="2142406"/>
            <a:ext cx="3657600" cy="2058838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Was Andrew Ng sagt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 indent="0">
              <a:buNone/>
            </a:pPr>
            <a:r>
              <a:rPr sz="2000"/>
              <a:t>KI ersetzt nicht Menschen. Menschen mit KI ersetzen Menschen ohne KI.</a:t>
            </a:r>
          </a:p>
          <a:p>
            <a:pPr lvl="0" indent="0">
              <a:buNone/>
            </a:pPr>
            <a:r>
              <a:rPr sz="2000"/>
              <a:t>— frei nach Andrew Ng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Use-Case-Portfolio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50900" y="1993900"/>
          <a:ext cx="7416800" cy="31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3800"/>
                <a:gridCol w="2463800"/>
                <a:gridCol w="2463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Bereich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Reife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Service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Agent Assist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Marketing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Content-Engine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hoch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Operations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Recruiting Copilot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mittel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Finance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Anomalie-Erkennung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niedrig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3: Daten &amp; Plattform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Daten als Engpass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56059" y="2142406"/>
            <a:ext cx="3657600" cy="2058838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 anchor="ctr">
            <a:normAutofit/>
          </a:bodyPr>
          <a:lstStyle/>
          <a:p>
            <a:pPr lvl="0"/>
            <a:r>
              <a:rPr/>
              <a:t>Datenqualität limitiert die meisten Piloten</a:t>
            </a:r>
          </a:p>
          <a:p>
            <a:pPr lvl="0"/>
            <a:r>
              <a:rPr/>
              <a:t>Ownership fehlt fast überall</a:t>
            </a:r>
          </a:p>
          <a:p>
            <a:pPr lvl="0"/>
            <a:r>
              <a:rPr/>
              <a:t>Vektor-DBs werden zur Pflicht</a:t>
            </a:r>
          </a:p>
          <a:p>
            <a:pPr lvl="0"/>
            <a:r>
              <a:rPr/>
              <a:t>Cost-Tracking pro Workflow wird neu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Architektur-Zielbild</a:t>
            </a:r>
          </a:p>
        </p:txBody>
      </p:sp>
      <p:pic>
        <p:nvPicPr>
          <p:cNvPr descr="/tmp/ppthelper_skeleton_placehold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933700" y="1993900"/>
            <a:ext cx="3251200" cy="182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4: Governance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EU AI Act kompakt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Anwendungspflicht ab 2026 stufenweise</a:t>
            </a:r>
          </a:p>
          <a:p>
            <a:pPr lvl="0"/>
            <a:r>
              <a:rPr/>
              <a:t>High-Risk-Pflichten ab August 2026</a:t>
            </a:r>
          </a:p>
          <a:p>
            <a:pPr lvl="0"/>
            <a:r>
              <a:rPr/>
              <a:t>Dokumentation und Audit-Trail werden Pflicht</a:t>
            </a:r>
          </a:p>
          <a:p>
            <a:pPr lvl="0"/>
            <a:r>
              <a:rPr/>
              <a:t>Schatten-KI ist heute schon ein Risiko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Teil 5: Roadmap &amp; Fazit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12-Monats-Roadmap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50900" y="1993900"/>
          <a:ext cx="7416800" cy="2336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3800"/>
                <a:gridCol w="2463800"/>
                <a:gridCol w="2463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Fokus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Ergebnis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Strategie &amp; Portfolio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Use-Case-Liste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Plattform &amp; Piloten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produktive MVPs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Skalierung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Rollout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Erfolgsfaktoren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Vorstands-Sponsoring mit klarer Verantwortung</a:t>
            </a:r>
          </a:p>
          <a:p>
            <a:pPr lvl="0"/>
            <a:r>
              <a:rPr/>
              <a:t>Fokus auf wenige, messbare Werthebel</a:t>
            </a:r>
          </a:p>
          <a:p>
            <a:pPr lvl="0"/>
            <a:r>
              <a:rPr/>
              <a:t>Daten- und Prozessarbeit vor Modell-Faszination</a:t>
            </a:r>
          </a:p>
          <a:p>
            <a:pPr lvl="0"/>
            <a:r>
              <a:rPr/>
              <a:t>Governance als Beschleuniger, nicht als Bremse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Fazit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lvl="0"/>
            <a:r>
              <a:rPr/>
              <a:t>KI ist Organisationsentwicklung, kein IT-Projekt</a:t>
            </a:r>
          </a:p>
          <a:p>
            <a:pPr lvl="0"/>
            <a:r>
              <a:rPr/>
              <a:t>Wettbewerbsvorteil entsteht durch integrierte Workflows</a:t>
            </a:r>
          </a:p>
          <a:p>
            <a:pPr lvl="0"/>
            <a:r>
              <a:rPr/>
              <a:t>Verantwortungsvolle Skalierung braucht Leitplanken</a:t>
            </a:r>
          </a:p>
          <a:p>
            <a:pPr lvl="0"/>
            <a:r>
              <a:rPr/>
              <a:t>Jetzt zählt: priorisieren, produktiv setzen, lernen, skalieren</a:t>
            </a:r>
          </a:p>
        </p:txBody>
      </p:sp>
      <p:sp>
        <p:nvSpPr>
          <p:cNvPr id="1001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de-DE"/>
              <a:t>1</a:t>
            </a:fld>
          </a:p>
        </p:txBody>
      </p:sp>
    </p:spTree>
  </p:cSld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Netz">
  <a:themeElements>
    <a:clrScheme name="Netz">
      <a:dk1>
        <a:sysClr val="windowText" lastClr="000000"/>
      </a:dk1>
      <a:lt1>
        <a:sysClr val="window" lastClr="FFFFFF"/>
      </a:lt1>
      <a:dk2>
        <a:srgbClr val="363D46"/>
      </a:dk2>
      <a:lt2>
        <a:srgbClr val="EBEBEB"/>
      </a:lt2>
      <a:accent1>
        <a:srgbClr val="6F6F6F"/>
      </a:accent1>
      <a:accent2>
        <a:srgbClr val="BFBFA5"/>
      </a:accent2>
      <a:accent3>
        <a:srgbClr val="DCD084"/>
      </a:accent3>
      <a:accent4>
        <a:srgbClr val="E7BF5F"/>
      </a:accent4>
      <a:accent5>
        <a:srgbClr val="E9A039"/>
      </a:accent5>
      <a:accent6>
        <a:srgbClr val="CF7133"/>
      </a:accent6>
      <a:hlink>
        <a:srgbClr val="F28943"/>
      </a:hlink>
      <a:folHlink>
        <a:srgbClr val="F1B76C"/>
      </a:folHlink>
    </a:clrScheme>
    <a:fontScheme name="Netz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Netz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84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50800" dist="25400" dir="13500000">
              <a:srgbClr val="000000">
                <a:alpha val="5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>
            <a:bevelT w="25400" h="25400" prst="slope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98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28000"/>
                <a:satMod val="94000"/>
                <a:lumMod val="20000"/>
              </a:schemeClr>
              <a:schemeClr val="phClr">
                <a:tint val="94000"/>
                <a:shade val="84000"/>
                <a:satMod val="148000"/>
                <a:lumMod val="114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sh" id="{789EC3FE-34FD-429C-9918-760025E6C145}" vid="{B8BE45C0-8141-4D58-8C71-A009BC26FBB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Netz</Template>
  <TotalTime>0</TotalTime>
  <Words>0</Words>
  <Application>Microsoft Office PowerPoint</Application>
  <PresentationFormat>Bildschirmpräsentation (16:9)</PresentationFormat>
  <Paragraphs>0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Arial</vt:lpstr>
      <vt:lpstr>Calibri</vt:lpstr>
      <vt:lpstr>Century Gothic</vt:lpstr>
      <vt:lpstr>Netz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 in Unternehmen</dc:title>
  <dc:creator>Strategie, Wert &amp; Umsetzung</dc:creator>
  <cp:keywords/>
  <dcterms:created xsi:type="dcterms:W3CDTF">2026-07-28T08:59:55Z</dcterms:created>
  <dcterms:modified xsi:type="dcterms:W3CDTF">2026-07-28T08:59:55Z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date">
    <vt:lpwstr>23. Mai 2026</vt:lpwstr>
  </property>
</Properties>
</file>