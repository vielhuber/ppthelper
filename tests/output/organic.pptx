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docProps/app.xml" ContentType="application/vnd.openxmlformats-officedocument.extended-properties+xml"/>
  <Override PartName="/ppt/slideLayouts/slideLayout5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726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32"/>
          <a:sy d="100" n="132"/>
        </p:scale>
        <p:origin x="126" y="26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5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4" Type="http://schemas.openxmlformats.org/officeDocument/2006/relationships/theme" Target="theme/theme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Quellen: McKinsey State of AI 2025, Stanford AI Index 2025, BCG 2024. Konkrete Zahl zur Adoption-Tiefe (1× pro Woche, 1× pro Tag, in Kernprozesse) im Anhang.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Detail-Timeline siehe Greenberg-Traurig 2025 Compliance-Guide. Übergang: “Bevor wir zur Roadmap kommen, kurz zu den Kontrollen…”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Letzte Folie — Schlussbotschaft für die Diskussion: “Wenn wir in 12 Monaten zurückblicken, woran erkennen wir, dass dieses Programm erfolgreich war?”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12700" y="0"/>
            <a:ext cx="9173370" cy="5142161"/>
            <a:chOff x="-16934" y="0"/>
            <a:chExt cx="12231160" cy="6856214"/>
          </a:xfrm>
        </p:grpSpPr>
        <p:pic>
          <p:nvPicPr>
            <p:cNvPr id="16" name="Picture 15" descr="HD-PanelTitleR1.png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12188825" cy="6856214"/>
            </a:xfrm>
            <a:prstGeom prst="rect">
              <a:avLst/>
            </a:prstGeom>
          </p:spPr>
        </p:pic>
        <p:sp>
          <p:nvSpPr>
            <p:cNvPr id="26" name="Rectangle 25"/>
            <p:cNvSpPr/>
            <p:nvPr/>
          </p:nvSpPr>
          <p:spPr>
            <a:xfrm>
              <a:off x="2328332" y="1540931"/>
              <a:ext cx="7543802" cy="3835401"/>
            </a:xfrm>
            <a:prstGeom prst="rect">
              <a:avLst/>
            </a:prstGeom>
            <a:noFill/>
            <a:ln w="15875">
              <a:miter lim="800000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pic>
          <p:nvPicPr>
            <p:cNvPr id="17" name="Picture 16" descr="HDRibbonTitle-UniformTrim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-16934" y="3147609"/>
              <a:ext cx="2478024" cy="612648"/>
            </a:xfrm>
            <a:prstGeom prst="rect">
              <a:avLst/>
            </a:prstGeom>
          </p:spPr>
        </p:pic>
        <p:pic>
          <p:nvPicPr>
            <p:cNvPr id="20" name="Picture 19" descr="HDRibbonTitle-UniformTrim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9736202" y="3147609"/>
              <a:ext cx="2478024" cy="612648"/>
            </a:xfrm>
            <a:prstGeom prst="rect">
              <a:avLst/>
            </a:prstGeom>
          </p:spPr>
        </p:pic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019299" y="1403349"/>
            <a:ext cx="5111752" cy="1136650"/>
          </a:xfrm>
        </p:spPr>
        <p:txBody>
          <a:bodyPr anchor="b">
            <a:noAutofit/>
          </a:bodyPr>
          <a:lstStyle>
            <a:lvl1pPr algn="ctr">
              <a:defRPr sz="4050">
                <a:effectLst/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019299" y="2743198"/>
            <a:ext cx="5111752" cy="990602"/>
          </a:xfrm>
        </p:spPr>
        <p:txBody>
          <a:bodyPr anchor="t">
            <a:normAutofit/>
          </a:bodyPr>
          <a:lstStyle>
            <a:lvl1pPr marL="0" indent="0" algn="ctr">
              <a:buNone/>
              <a:defRPr sz="1575">
                <a:solidFill>
                  <a:schemeClr val="tx1"/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5987425" y="3778247"/>
            <a:ext cx="673100" cy="209550"/>
          </a:xfrm>
        </p:spPr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019298" y="3778247"/>
            <a:ext cx="3910976" cy="20955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717676" y="3778247"/>
            <a:ext cx="413375" cy="209550"/>
          </a:xfrm>
        </p:spPr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2019299" y="2641598"/>
            <a:ext cx="5111751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371497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/>
          <p:cNvCxnSpPr/>
          <p:nvPr/>
        </p:nvCxnSpPr>
        <p:spPr>
          <a:xfrm>
            <a:off x="1047127" y="1816100"/>
            <a:ext cx="7055474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96198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11302" y="1314454"/>
            <a:ext cx="6119016" cy="1366886"/>
          </a:xfrm>
        </p:spPr>
        <p:txBody>
          <a:bodyPr anchor="b">
            <a:normAutofit/>
          </a:bodyPr>
          <a:lstStyle>
            <a:lvl1pPr algn="ctr">
              <a:defRPr sz="3300" b="0" cap="none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11300" y="2884539"/>
            <a:ext cx="6119018" cy="715910"/>
          </a:xfrm>
        </p:spPr>
        <p:txBody>
          <a:bodyPr anchor="t">
            <a:normAutofit/>
          </a:bodyPr>
          <a:lstStyle>
            <a:lvl1pPr marL="0" indent="0" algn="ctr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cxnSp>
        <p:nvCxnSpPr>
          <p:cNvPr id="16" name="Straight Connector 15"/>
          <p:cNvCxnSpPr/>
          <p:nvPr/>
        </p:nvCxnSpPr>
        <p:spPr>
          <a:xfrm>
            <a:off x="1509542" y="2782939"/>
            <a:ext cx="6122535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148580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/>
          <p:cNvCxnSpPr/>
          <p:nvPr/>
        </p:nvCxnSpPr>
        <p:spPr>
          <a:xfrm>
            <a:off x="1047127" y="1816100"/>
            <a:ext cx="7055474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73836" y="1920240"/>
            <a:ext cx="3538728" cy="2482596"/>
          </a:xfrm>
        </p:spPr>
        <p:txBody>
          <a:bodyPr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36008" y="1920240"/>
            <a:ext cx="3538728" cy="2482596"/>
          </a:xfrm>
        </p:spPr>
        <p:txBody>
          <a:bodyPr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0869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1550" y="1993900"/>
            <a:ext cx="3538728" cy="432197"/>
          </a:xfrm>
        </p:spPr>
        <p:txBody>
          <a:bodyPr anchor="b">
            <a:noAutofit/>
          </a:bodyPr>
          <a:lstStyle>
            <a:lvl1pPr marL="0" indent="0">
              <a:spcBef>
                <a:spcPts val="504"/>
              </a:spcBef>
              <a:spcAft>
                <a:spcPts val="450"/>
              </a:spcAft>
              <a:buNone/>
              <a:defRPr sz="2100" b="0">
                <a:solidFill>
                  <a:schemeClr val="accent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71550" y="2432447"/>
            <a:ext cx="3538728" cy="1974454"/>
          </a:xfrm>
        </p:spPr>
        <p:txBody>
          <a:bodyPr anchor="t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35503" y="1993900"/>
            <a:ext cx="3538728" cy="432197"/>
          </a:xfrm>
        </p:spPr>
        <p:txBody>
          <a:bodyPr anchor="b">
            <a:noAutofit/>
          </a:bodyPr>
          <a:lstStyle>
            <a:lvl1pPr marL="0" indent="0">
              <a:spcBef>
                <a:spcPts val="504"/>
              </a:spcBef>
              <a:spcAft>
                <a:spcPts val="450"/>
              </a:spcAft>
              <a:buNone/>
              <a:defRPr sz="2100" b="0">
                <a:solidFill>
                  <a:schemeClr val="accent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35503" y="2432447"/>
            <a:ext cx="3538728" cy="1974454"/>
          </a:xfrm>
        </p:spPr>
        <p:txBody>
          <a:bodyPr anchor="t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cxnSp>
        <p:nvCxnSpPr>
          <p:cNvPr id="18" name="Straight Connector 17"/>
          <p:cNvCxnSpPr/>
          <p:nvPr/>
        </p:nvCxnSpPr>
        <p:spPr>
          <a:xfrm>
            <a:off x="1047127" y="1816100"/>
            <a:ext cx="7055474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158361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cxnSp>
        <p:nvCxnSpPr>
          <p:cNvPr id="14" name="Straight Connector 13"/>
          <p:cNvCxnSpPr/>
          <p:nvPr/>
        </p:nvCxnSpPr>
        <p:spPr>
          <a:xfrm>
            <a:off x="1047127" y="1816100"/>
            <a:ext cx="7055474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635796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02339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70359" y="1041401"/>
            <a:ext cx="2788841" cy="1028700"/>
          </a:xfrm>
        </p:spPr>
        <p:txBody>
          <a:bodyPr anchor="b">
            <a:normAutofit/>
          </a:bodyPr>
          <a:lstStyle>
            <a:lvl1pPr algn="ctr">
              <a:defRPr sz="1800" b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064001" y="736599"/>
            <a:ext cx="4102100" cy="3670301"/>
          </a:xfrm>
        </p:spPr>
        <p:txBody>
          <a:bodyPr anchor="ctr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70359" y="2273299"/>
            <a:ext cx="2788841" cy="1828803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cxnSp>
        <p:nvCxnSpPr>
          <p:cNvPr id="16" name="Straight Connector 15"/>
          <p:cNvCxnSpPr/>
          <p:nvPr/>
        </p:nvCxnSpPr>
        <p:spPr>
          <a:xfrm>
            <a:off x="1047127" y="2184400"/>
            <a:ext cx="2635874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477344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71549" y="1412874"/>
            <a:ext cx="4681362" cy="1028700"/>
          </a:xfrm>
        </p:spPr>
        <p:txBody>
          <a:bodyPr anchor="b">
            <a:normAutofit/>
          </a:bodyPr>
          <a:lstStyle>
            <a:lvl1pPr algn="ctr">
              <a:defRPr sz="2100" b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71124" y="781050"/>
            <a:ext cx="2297510" cy="3581400"/>
          </a:xfrm>
          <a:prstGeom prst="roundRect">
            <a:avLst>
              <a:gd name="adj" fmla="val 0"/>
            </a:avLst>
          </a:prstGeom>
          <a:ln w="57150" cmpd="thickThin">
            <a:solidFill>
              <a:schemeClr val="tx1">
                <a:lumMod val="50000"/>
                <a:lumOff val="50000"/>
              </a:schemeClr>
            </a:solidFill>
            <a:miter lim="800000"/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71549" y="2441574"/>
            <a:ext cx="4681362" cy="1371600"/>
          </a:xfrm>
        </p:spPr>
        <p:txBody>
          <a:bodyPr anchor="t">
            <a:normAutofit/>
          </a:bodyPr>
          <a:lstStyle>
            <a:lvl1pPr marL="0" indent="0" algn="ctr">
              <a:buNone/>
              <a:defRPr sz="13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98511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abild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71551" y="3611561"/>
            <a:ext cx="7207250" cy="425054"/>
          </a:xfrm>
        </p:spPr>
        <p:txBody>
          <a:bodyPr anchor="b">
            <a:normAutofit/>
          </a:bodyPr>
          <a:lstStyle>
            <a:lvl1pPr algn="ctr">
              <a:defRPr sz="1800" b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81070" y="781050"/>
            <a:ext cx="7579479" cy="2501902"/>
          </a:xfrm>
          <a:prstGeom prst="roundRect">
            <a:avLst>
              <a:gd name="adj" fmla="val 0"/>
            </a:avLst>
          </a:prstGeom>
          <a:ln w="57150" cmpd="thickThin">
            <a:solidFill>
              <a:schemeClr val="tx1">
                <a:lumMod val="50000"/>
                <a:lumOff val="50000"/>
              </a:schemeClr>
            </a:solidFill>
            <a:miter lim="800000"/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71551" y="4036615"/>
            <a:ext cx="7207250" cy="370284"/>
          </a:xfrm>
        </p:spPr>
        <p:txBody>
          <a:bodyPr>
            <a:normAutofit/>
          </a:bodyPr>
          <a:lstStyle>
            <a:lvl1pPr marL="0" indent="0" algn="ctr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12805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 und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77901" y="736599"/>
            <a:ext cx="7194549" cy="2216151"/>
          </a:xfrm>
        </p:spPr>
        <p:txBody>
          <a:bodyPr anchor="ctr">
            <a:normAutofit/>
          </a:bodyPr>
          <a:lstStyle>
            <a:lvl1pPr algn="ctr">
              <a:defRPr sz="2400" b="0" cap="none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7901" y="3257550"/>
            <a:ext cx="7194549" cy="11493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500">
                <a:solidFill>
                  <a:schemeClr val="tx1"/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1047127" y="3105149"/>
            <a:ext cx="7055474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1841461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Zitat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84660" y="736599"/>
            <a:ext cx="6972299" cy="1778001"/>
          </a:xfrm>
        </p:spPr>
        <p:txBody>
          <a:bodyPr anchor="ctr">
            <a:normAutofit/>
          </a:bodyPr>
          <a:lstStyle>
            <a:lvl1pPr algn="ctr">
              <a:defRPr sz="2400" b="0" cap="none">
                <a:solidFill>
                  <a:schemeClr val="tx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256109" y="2514600"/>
            <a:ext cx="6629402" cy="438150"/>
          </a:xfrm>
        </p:spPr>
        <p:txBody>
          <a:bodyPr anchor="ctr">
            <a:normAutofit/>
          </a:bodyPr>
          <a:lstStyle>
            <a:lvl1pPr marL="0" indent="0" algn="r">
              <a:buFontTx/>
              <a:buNone/>
              <a:defRPr sz="1500"/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1551" y="3257550"/>
            <a:ext cx="7207250" cy="11493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500">
                <a:solidFill>
                  <a:schemeClr val="tx1"/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646510" y="659971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50200" y="2120903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 algn="r"/>
            <a:r>
              <a:rPr lang="en-US" sz="6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1047127" y="3105149"/>
            <a:ext cx="7055474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9253390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nskar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71552" y="2481436"/>
            <a:ext cx="7207251" cy="1101600"/>
          </a:xfrm>
        </p:spPr>
        <p:txBody>
          <a:bodyPr anchor="b">
            <a:normAutofit/>
          </a:bodyPr>
          <a:lstStyle>
            <a:lvl1pPr algn="l">
              <a:defRPr sz="2400" b="0" cap="none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1551" y="3583036"/>
            <a:ext cx="7207251" cy="645300"/>
          </a:xfrm>
        </p:spPr>
        <p:txBody>
          <a:bodyPr anchor="t">
            <a:normAutofit/>
          </a:bodyPr>
          <a:lstStyle>
            <a:lvl1pPr marL="0" indent="0" algn="l">
              <a:buNone/>
              <a:defRPr sz="1500">
                <a:solidFill>
                  <a:schemeClr val="tx1"/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458585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nskarte für Zita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84660" y="736599"/>
            <a:ext cx="6972299" cy="1682751"/>
          </a:xfrm>
        </p:spPr>
        <p:txBody>
          <a:bodyPr anchor="ctr">
            <a:normAutofit/>
          </a:bodyPr>
          <a:lstStyle>
            <a:lvl1pPr algn="ctr">
              <a:defRPr sz="2400" b="0" cap="none">
                <a:solidFill>
                  <a:schemeClr val="tx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23" name="Text Placeholder 2"/>
          <p:cNvSpPr>
            <a:spLocks noGrp="1"/>
          </p:cNvSpPr>
          <p:nvPr>
            <p:ph type="body" idx="13"/>
          </p:nvPr>
        </p:nvSpPr>
        <p:spPr>
          <a:xfrm>
            <a:off x="971551" y="2729484"/>
            <a:ext cx="7207251" cy="665226"/>
          </a:xfrm>
        </p:spPr>
        <p:txBody>
          <a:bodyPr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1551" y="3397250"/>
            <a:ext cx="7207251" cy="1009650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/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646510" y="659971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0200" y="1949446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 algn="r"/>
            <a:r>
              <a:rPr lang="en-US" sz="6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cxnSp>
        <p:nvCxnSpPr>
          <p:cNvPr id="26" name="Straight Connector 25"/>
          <p:cNvCxnSpPr/>
          <p:nvPr/>
        </p:nvCxnSpPr>
        <p:spPr>
          <a:xfrm>
            <a:off x="1047127" y="2571750"/>
            <a:ext cx="7055474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1153862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ahr oder Fals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71551" y="736599"/>
            <a:ext cx="7207250" cy="1682751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20" name="Text Placeholder 2"/>
          <p:cNvSpPr>
            <a:spLocks noGrp="1"/>
          </p:cNvSpPr>
          <p:nvPr>
            <p:ph type="body" idx="13"/>
          </p:nvPr>
        </p:nvSpPr>
        <p:spPr>
          <a:xfrm>
            <a:off x="971551" y="2722626"/>
            <a:ext cx="7207251" cy="630936"/>
          </a:xfrm>
        </p:spPr>
        <p:txBody>
          <a:bodyPr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100">
                <a:solidFill>
                  <a:schemeClr val="tx1"/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1550" y="3352800"/>
            <a:ext cx="7207253" cy="1054100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/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1047127" y="2571750"/>
            <a:ext cx="7055474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4311264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ctr">
              <a:defRPr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cxnSp>
        <p:nvCxnSpPr>
          <p:cNvPr id="14" name="Straight Connector 13"/>
          <p:cNvCxnSpPr/>
          <p:nvPr/>
        </p:nvCxnSpPr>
        <p:spPr>
          <a:xfrm>
            <a:off x="1047127" y="1816100"/>
            <a:ext cx="7055474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2693741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749518" y="736599"/>
            <a:ext cx="1418171" cy="3670301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71549" y="736599"/>
            <a:ext cx="5574769" cy="3670301"/>
          </a:xfrm>
        </p:spPr>
        <p:txBody>
          <a:bodyPr vert="eaVert" anchor="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cxnSp>
        <p:nvCxnSpPr>
          <p:cNvPr id="14" name="Straight Connector 13"/>
          <p:cNvCxnSpPr/>
          <p:nvPr/>
        </p:nvCxnSpPr>
        <p:spPr>
          <a:xfrm>
            <a:off x="6647918" y="742950"/>
            <a:ext cx="0" cy="365760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03051750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1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slideLayouts/slideLayout17.xml" Type="http://schemas.openxmlformats.org/officeDocument/2006/relationships/slideLayout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20" Target="../media/image4.png" Type="http://schemas.openxmlformats.org/officeDocument/2006/relationships/image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19" Target="../media/image3.png" Type="http://schemas.openxmlformats.org/officeDocument/2006/relationships/image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11802" y="0"/>
            <a:ext cx="9172472" cy="5142161"/>
            <a:chOff x="-15736" y="0"/>
            <a:chExt cx="12229962" cy="6856214"/>
          </a:xfrm>
        </p:grpSpPr>
        <p:pic>
          <p:nvPicPr>
            <p:cNvPr id="8" name="Picture 7" descr="HD-PanelContent.png"/>
            <p:cNvPicPr>
              <a:picLocks noChangeAspect="1"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12188825" cy="6856214"/>
            </a:xfrm>
            <a:prstGeom prst="rect">
              <a:avLst/>
            </a:prstGeom>
          </p:spPr>
        </p:pic>
        <p:sp>
          <p:nvSpPr>
            <p:cNvPr id="9" name="Rectangle 8"/>
            <p:cNvSpPr/>
            <p:nvPr/>
          </p:nvSpPr>
          <p:spPr>
            <a:xfrm>
              <a:off x="608012" y="609600"/>
              <a:ext cx="10972800" cy="5638800"/>
            </a:xfrm>
            <a:prstGeom prst="rect">
              <a:avLst/>
            </a:prstGeom>
            <a:noFill/>
            <a:ln w="15875" cap="flat">
              <a:miter lim="800000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pic>
          <p:nvPicPr>
            <p:cNvPr id="10" name="Picture 9" descr="HDRibbonContent-UniformTrim.png"/>
            <p:cNvPicPr>
              <a:picLocks noChangeAspect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-15736" y="3153832"/>
              <a:ext cx="777240" cy="606425"/>
            </a:xfrm>
            <a:prstGeom prst="rect">
              <a:avLst/>
            </a:prstGeom>
          </p:spPr>
        </p:pic>
        <p:pic>
          <p:nvPicPr>
            <p:cNvPr id="11" name="Picture 10" descr="HDRibbonContent-UniformTrim.png"/>
            <p:cNvPicPr>
              <a:picLocks noChangeAspect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1436986" y="3153832"/>
              <a:ext cx="777240" cy="606425"/>
            </a:xfrm>
            <a:prstGeom prst="rect">
              <a:avLst/>
            </a:prstGeom>
          </p:spPr>
        </p:pic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71552" y="736600"/>
            <a:ext cx="7200897" cy="977900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1551" y="1917699"/>
            <a:ext cx="7200897" cy="248920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508126" y="4476750"/>
            <a:ext cx="1200150" cy="2095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5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71551" y="4476750"/>
            <a:ext cx="5479425" cy="2095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765426" y="4476750"/>
            <a:ext cx="407023" cy="2095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5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78280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  <p:sldLayoutId id="2147483738" r:id="rId12"/>
    <p:sldLayoutId id="2147483739" r:id="rId13"/>
    <p:sldLayoutId id="2147483740" r:id="rId14"/>
    <p:sldLayoutId id="2147483741" r:id="rId15"/>
    <p:sldLayoutId id="2147483742" r:id="rId16"/>
    <p:sldLayoutId id="2147483743" r:id="rId17"/>
  </p:sldLayoutIdLst>
  <p:txStyles>
    <p:titleStyle>
      <a:lvl1pPr algn="ctr" defTabSz="342900" rtl="0" eaLnBrk="1" latinLnBrk="0" hangingPunct="1">
        <a:spcBef>
          <a:spcPct val="0"/>
        </a:spcBef>
        <a:buNone/>
        <a:defRPr sz="3300" kern="1200" cap="none">
          <a:ln w="3175" cmpd="sng">
            <a:noFill/>
          </a:ln>
          <a:solidFill>
            <a:schemeClr val="tx1">
              <a:lumMod val="85000"/>
              <a:lumOff val="15000"/>
            </a:schemeClr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14313" indent="-214313" algn="l" defTabSz="342900" rtl="0" eaLnBrk="1" latinLnBrk="0" hangingPunct="1">
        <a:spcBef>
          <a:spcPct val="20000"/>
        </a:spcBef>
        <a:spcAft>
          <a:spcPts val="450"/>
        </a:spcAft>
        <a:buClr>
          <a:schemeClr val="accent1"/>
        </a:buClr>
        <a:buSzPct val="115000"/>
        <a:buFont typeface="Arial"/>
        <a:buChar char="•"/>
        <a:defRPr sz="18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1pPr>
      <a:lvl2pPr marL="557213" indent="-214313" algn="l" defTabSz="342900" rtl="0" eaLnBrk="1" latinLnBrk="0" hangingPunct="1">
        <a:spcBef>
          <a:spcPct val="20000"/>
        </a:spcBef>
        <a:spcAft>
          <a:spcPts val="450"/>
        </a:spcAft>
        <a:buClr>
          <a:schemeClr val="accent1"/>
        </a:buClr>
        <a:buSzPct val="115000"/>
        <a:buFont typeface="Arial"/>
        <a:buChar char="•"/>
        <a:defRPr sz="15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2pPr>
      <a:lvl3pPr marL="900113" indent="-214313" algn="l" defTabSz="342900" rtl="0" eaLnBrk="1" latinLnBrk="0" hangingPunct="1">
        <a:spcBef>
          <a:spcPct val="20000"/>
        </a:spcBef>
        <a:spcAft>
          <a:spcPts val="450"/>
        </a:spcAft>
        <a:buClr>
          <a:schemeClr val="accent1"/>
        </a:buClr>
        <a:buSzPct val="115000"/>
        <a:buFont typeface="Arial"/>
        <a:buChar char="•"/>
        <a:defRPr sz="135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3pPr>
      <a:lvl4pPr marL="1157288" indent="-128588" algn="l" defTabSz="342900" rtl="0" eaLnBrk="1" latinLnBrk="0" hangingPunct="1">
        <a:spcBef>
          <a:spcPct val="20000"/>
        </a:spcBef>
        <a:spcAft>
          <a:spcPts val="450"/>
        </a:spcAft>
        <a:buClr>
          <a:schemeClr val="accent1"/>
        </a:buClr>
        <a:buSzPct val="115000"/>
        <a:buFont typeface="Arial"/>
        <a:buChar char="•"/>
        <a:defRPr sz="12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4pPr>
      <a:lvl5pPr marL="1500188" indent="-128588" algn="l" defTabSz="342900" rtl="0" eaLnBrk="1" latinLnBrk="0" hangingPunct="1">
        <a:spcBef>
          <a:spcPct val="20000"/>
        </a:spcBef>
        <a:spcAft>
          <a:spcPts val="450"/>
        </a:spcAft>
        <a:buClr>
          <a:schemeClr val="accent1"/>
        </a:buClr>
        <a:buSzPct val="115000"/>
        <a:buFont typeface="Arial"/>
        <a:buChar char="•"/>
        <a:defRPr sz="105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5pPr>
      <a:lvl6pPr marL="1885950" indent="-171450" algn="l" defTabSz="342900" rtl="0" eaLnBrk="1" latinLnBrk="0" hangingPunct="1">
        <a:spcBef>
          <a:spcPct val="20000"/>
        </a:spcBef>
        <a:spcAft>
          <a:spcPts val="450"/>
        </a:spcAft>
        <a:buClr>
          <a:schemeClr val="accent1"/>
        </a:buClr>
        <a:buSzPct val="115000"/>
        <a:buFont typeface="Arial"/>
        <a:buChar char="•"/>
        <a:defRPr sz="105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6pPr>
      <a:lvl7pPr marL="2228850" indent="-171450" algn="l" defTabSz="342900" rtl="0" eaLnBrk="1" latinLnBrk="0" hangingPunct="1">
        <a:spcBef>
          <a:spcPct val="20000"/>
        </a:spcBef>
        <a:spcAft>
          <a:spcPts val="450"/>
        </a:spcAft>
        <a:buClr>
          <a:schemeClr val="accent1"/>
        </a:buClr>
        <a:buSzPct val="115000"/>
        <a:buFont typeface="Arial"/>
        <a:buChar char="•"/>
        <a:defRPr sz="105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7pPr>
      <a:lvl8pPr marL="2571750" indent="-171450" algn="l" defTabSz="342900" rtl="0" eaLnBrk="1" latinLnBrk="0" hangingPunct="1">
        <a:spcBef>
          <a:spcPct val="20000"/>
        </a:spcBef>
        <a:spcAft>
          <a:spcPts val="450"/>
        </a:spcAft>
        <a:buClr>
          <a:schemeClr val="accent1"/>
        </a:buClr>
        <a:buSzPct val="115000"/>
        <a:buFont typeface="Arial"/>
        <a:buChar char="•"/>
        <a:defRPr sz="105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8pPr>
      <a:lvl9pPr marL="2914650" indent="-171450" algn="l" defTabSz="342900" rtl="0" eaLnBrk="1" latinLnBrk="0" hangingPunct="1">
        <a:spcBef>
          <a:spcPct val="20000"/>
        </a:spcBef>
        <a:spcAft>
          <a:spcPts val="450"/>
        </a:spcAft>
        <a:buClr>
          <a:schemeClr val="accent1"/>
        </a:buClr>
        <a:buSzPct val="115000"/>
        <a:buFont typeface="Arial"/>
        <a:buChar char="•"/>
        <a:defRPr sz="105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 in Unternehmen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Strategie, Wert &amp; Umsetzung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AA5AE68C-7E05-4013-BF21-9B93BA55A149}" type="datetime1">
              <a:rPr lang="de-DE" smtClean="0"/>
              <a:t>23. Mai 2026</a:t>
            </a:fld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-342900" marL="342900">
              <a:buAutoNum type="arabicPeriod"/>
            </a:pPr>
            <a:r>
              <a:rPr/>
              <a:t>Marktdynamik</a:t>
            </a:r>
          </a:p>
          <a:p>
            <a:pPr lvl="0" indent="-342900" marL="342900">
              <a:buAutoNum startAt="2" type="arabicPeriod"/>
            </a:pPr>
            <a:r>
              <a:rPr/>
              <a:t>Werthebel</a:t>
            </a:r>
          </a:p>
          <a:p>
            <a:pPr lvl="0" indent="-342900" marL="342900">
              <a:buAutoNum startAt="3" type="arabicPeriod"/>
            </a:pPr>
            <a:r>
              <a:rPr/>
              <a:t>Daten &amp; Plattform</a:t>
            </a:r>
          </a:p>
          <a:p>
            <a:pPr lvl="0" indent="-342900" marL="342900">
              <a:buAutoNum startAt="4" type="arabicPeriod"/>
            </a:pPr>
            <a:r>
              <a:rPr/>
              <a:t>Governance</a:t>
            </a:r>
          </a:p>
          <a:p>
            <a:pPr lvl="0" indent="-342900" marL="342900">
              <a:buAutoNum startAt="5" type="arabicPeriod"/>
            </a:pPr>
            <a:r>
              <a:rPr/>
              <a:t>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1: Marktdynamik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Adoption steigt rasant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78 % der Unternehmen nutzen GenAI wöchentlich</a:t>
            </a:r>
          </a:p>
          <a:p>
            <a:pPr lvl="0"/>
            <a:r>
              <a:rPr/>
              <a:t>Pilot-zu-Produktion bleibt das Nadelöhr</a:t>
            </a:r>
          </a:p>
          <a:p>
            <a:pPr lvl="0"/>
            <a:r>
              <a:rPr/>
              <a:t>Investitionen verdoppeln sich jedes Jahr</a:t>
            </a:r>
          </a:p>
          <a:p>
            <a:pPr lvl="0"/>
            <a:r>
              <a:rPr/>
              <a:t>Skill-Gap wird zur Engpass-Disziplin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Markttrends 2026 im 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73836" y="2165575"/>
            <a:ext cx="3538728" cy="1991926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Agentic AI verlässt das Lab</a:t>
            </a:r>
          </a:p>
          <a:p>
            <a:pPr lvl="0"/>
            <a:r>
              <a:rPr/>
              <a:t>Multimodale Modelle werden Standard</a:t>
            </a:r>
          </a:p>
          <a:p>
            <a:pPr lvl="0"/>
            <a:r>
              <a:rPr/>
              <a:t>On-Device-Inferenz für sensible Daten</a:t>
            </a:r>
          </a:p>
          <a:p>
            <a:pPr lvl="0"/>
            <a:r>
              <a:rPr/>
              <a:t>Open-Source-Modelle holen auf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Kernzahlen 2024–2026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965200" y="1905000"/>
          <a:ext cx="71882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90700"/>
                <a:gridCol w="1790700"/>
                <a:gridCol w="1790700"/>
                <a:gridCol w="1790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Indikator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KI-Nutzung (wöchentlich)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56 %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71 %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Skalierte Use Cases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26 %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KI-Investitionen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180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252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320 Mrd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Skills-Gap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Governance-Reife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2: Werthebel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 Wert entsteht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Umsatz: Pricing, Sales, Cross-Sell</a:t>
            </a:r>
          </a:p>
          <a:p>
            <a:pPr lvl="0"/>
            <a:r>
              <a:rPr/>
              <a:t>Kosten: Automation und Qualität</a:t>
            </a:r>
          </a:p>
          <a:p>
            <a:pPr lvl="0"/>
            <a:r>
              <a:rPr/>
              <a:t>Tempo: kürzere Zyklen, weniger Rework</a:t>
            </a:r>
          </a:p>
          <a:p>
            <a:pPr lvl="0"/>
            <a:r>
              <a:rPr/>
              <a:t>Innovation: neue Produkte &amp; Services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6008" y="2165575"/>
            <a:ext cx="3538728" cy="1991926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Andrew Ng sagt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0">
              <a:buNone/>
            </a:pPr>
            <a:r>
              <a:rPr sz="2000"/>
              <a:t>KI ersetzt nicht Menschen. Menschen mit KI ersetzen Menschen ohne KI.</a:t>
            </a:r>
          </a:p>
          <a:p>
            <a:pPr lvl="0" indent="0">
              <a:buNone/>
            </a:pPr>
            <a:r>
              <a:rPr sz="2000"/>
              <a:t>— frei nach Andrew Ng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Use-Case-Portfolio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965200" y="1905000"/>
          <a:ext cx="71882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87600"/>
                <a:gridCol w="2387600"/>
                <a:gridCol w="2387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Bereich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Reife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Agent Assist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Marketing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Content-Engine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Operations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Forecasting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Recruiting Copilot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Anomalie-Erkennung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3: Daten &amp; Plattform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Daten als Engpass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73836" y="2165575"/>
            <a:ext cx="3538728" cy="1991926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Datenqualität limitiert die meisten Piloten</a:t>
            </a:r>
          </a:p>
          <a:p>
            <a:pPr lvl="0"/>
            <a:r>
              <a:rPr/>
              <a:t>Ownership fehlt fast überall</a:t>
            </a:r>
          </a:p>
          <a:p>
            <a:pPr lvl="0"/>
            <a:r>
              <a:rPr/>
              <a:t>Vektor-DBs werden zur Pflicht</a:t>
            </a:r>
          </a:p>
          <a:p>
            <a:pPr lvl="0"/>
            <a:r>
              <a:rPr/>
              <a:t>Cost-Tracking pro Workflow wird neu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Architektur-Zielbild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94000" y="1905000"/>
            <a:ext cx="3517900" cy="198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4: Governance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EU AI Act kompakt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Anwendungspflicht ab 2026 stufenweise</a:t>
            </a:r>
          </a:p>
          <a:p>
            <a:pPr lvl="0"/>
            <a:r>
              <a:rPr/>
              <a:t>High-Risk-Pflichten ab August 2026</a:t>
            </a:r>
          </a:p>
          <a:p>
            <a:pPr lvl="0"/>
            <a:r>
              <a:rPr/>
              <a:t>Dokumentation und Audit-Trail werden Pflicht</a:t>
            </a:r>
          </a:p>
          <a:p>
            <a:pPr lvl="0"/>
            <a:r>
              <a:rPr/>
              <a:t>Schatten-KI ist heute schon ein Risiko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5: 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12-Monats-Roadmap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965200" y="1905000"/>
          <a:ext cx="7188200" cy="248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87600"/>
                <a:gridCol w="2387600"/>
                <a:gridCol w="2387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Fokus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Ergebnis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Strategie &amp; Portfolio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Use-Case-Liste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Plattform &amp; Piloten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produktive MVPs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Rollout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Erfolgsfaktoren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Vorstands-Sponsoring mit klarer Verantwortung</a:t>
            </a:r>
          </a:p>
          <a:p>
            <a:pPr lvl="0"/>
            <a:r>
              <a:rPr/>
              <a:t>Fokus auf wenige, messbare Werthebel</a:t>
            </a:r>
          </a:p>
          <a:p>
            <a:pPr lvl="0"/>
            <a:r>
              <a:rPr/>
              <a:t>Daten- und Prozessarbeit vor Modell-Faszination</a:t>
            </a:r>
          </a:p>
          <a:p>
            <a:pPr lvl="0"/>
            <a:r>
              <a:rPr/>
              <a:t>Governance als Beschleuniger, nicht als Bremse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Fazit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KI ist Organisationsentwicklung, kein IT-Projekt</a:t>
            </a:r>
          </a:p>
          <a:p>
            <a:pPr lvl="0"/>
            <a:r>
              <a:rPr/>
              <a:t>Wettbewerbsvorteil entsteht durch integrierte Workflows</a:t>
            </a:r>
          </a:p>
          <a:p>
            <a:pPr lvl="0"/>
            <a:r>
              <a:rPr/>
              <a:t>Verantwortungsvolle Skalierung braucht Leitplanken</a:t>
            </a:r>
          </a:p>
          <a:p>
            <a:pPr lvl="0"/>
            <a:r>
              <a:rPr/>
              <a:t>Jetzt zählt: priorisieren, produktiv setzen, lernen, skalieren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theme/_rels/them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Organisch">
  <a:themeElements>
    <a:clrScheme name="Organisch">
      <a:dk1>
        <a:sysClr val="windowText" lastClr="000000"/>
      </a:dk1>
      <a:lt1>
        <a:sysClr val="window" lastClr="FFFFFF"/>
      </a:lt1>
      <a:dk2>
        <a:srgbClr val="212121"/>
      </a:dk2>
      <a:lt2>
        <a:srgbClr val="DADADA"/>
      </a:lt2>
      <a:accent1>
        <a:srgbClr val="83992A"/>
      </a:accent1>
      <a:accent2>
        <a:srgbClr val="3C9770"/>
      </a:accent2>
      <a:accent3>
        <a:srgbClr val="44709D"/>
      </a:accent3>
      <a:accent4>
        <a:srgbClr val="A23C33"/>
      </a:accent4>
      <a:accent5>
        <a:srgbClr val="D97828"/>
      </a:accent5>
      <a:accent6>
        <a:srgbClr val="DEB340"/>
      </a:accent6>
      <a:hlink>
        <a:srgbClr val="A8BF4D"/>
      </a:hlink>
      <a:folHlink>
        <a:srgbClr val="B4CA80"/>
      </a:folHlink>
    </a:clrScheme>
    <a:fontScheme name="Organisch">
      <a:majorFont>
        <a:latin typeface="Garamond" panose="02020404030301010803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Garamond" panose="02020404030301010803"/>
        <a:ea typeface=""/>
        <a:cs typeface=""/>
        <a:font script="Jpan" typeface="ＭＳ Ｐ明朝"/>
        <a:font script="Hang" typeface="바탕"/>
        <a:font script="Hans" typeface="方正舒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Organisch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blipFill>
          <a:blip xmlns:r="http://schemas.openxmlformats.org/officeDocument/2006/relationships" r:embed="rId1">
            <a:duotone>
              <a:schemeClr val="phClr">
                <a:shade val="74000"/>
                <a:satMod val="130000"/>
                <a:lumMod val="90000"/>
              </a:schemeClr>
              <a:schemeClr val="phClr">
                <a:tint val="94000"/>
                <a:satMod val="120000"/>
                <a:lumMod val="104000"/>
              </a:schemeClr>
            </a:duotone>
          </a:blip>
          <a:tile tx="0" ty="0" sx="100000" sy="100000" flip="none" algn="tl"/>
        </a:blip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38100" dist="254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88000"/>
                <a:lumMod val="98000"/>
              </a:schemeClr>
            </a:gs>
          </a:gsLst>
          <a:lin ang="5400000" scaled="0"/>
        </a:gradFill>
        <a:blipFill>
          <a:blip xmlns:r="http://schemas.openxmlformats.org/officeDocument/2006/relationships" r:embed="rId2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rganic" id="{28CDC826-8792-45C0-861B-85EB3ADEDA33}" vid="{7DAC20F1-423D-49E2-BD0B-50532748BAD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Organic</Template>
  <TotalTime>0</TotalTime>
  <Words>0</Words>
  <Application>Microsoft Office PowerPoint</Application>
  <PresentationFormat>Bildschirmpräsentation (16:9)</PresentationFormat>
  <Paragraphs>0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5" baseType="lpstr">
      <vt:lpstr>Arial</vt:lpstr>
      <vt:lpstr>Calibri</vt:lpstr>
      <vt:lpstr>Garamond</vt:lpstr>
      <vt:lpstr>Organisch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 in Unternehmen</dc:title>
  <dc:creator>Strategie, Wert &amp; Umsetzung</dc:creator>
  <cp:keywords/>
  <dcterms:created xsi:type="dcterms:W3CDTF">2026-05-25T08:28:32Z</dcterms:created>
  <dcterms:modified xsi:type="dcterms:W3CDTF">2026-05-25T08:28:32Z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23. Mai 2026</vt:lpwstr>
  </property>
</Properties>
</file>