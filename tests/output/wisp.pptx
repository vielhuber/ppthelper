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726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32"/>
          <a:sy d="100" n="132"/>
        </p:scale>
        <p:origin x="126" y="26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notesMaster" Target="notesMasters/notesMaster1.xml" /><Relationship Id="rId25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24" Type="http://schemas.openxmlformats.org/officeDocument/2006/relationships/theme" Target="theme/theme1.xml" /><Relationship Id="rId23" Type="http://schemas.openxmlformats.org/officeDocument/2006/relationships/viewProps" Target="viewProps.xml" /><Relationship Id="rId22" Type="http://schemas.openxmlformats.org/officeDocument/2006/relationships/presProps" Target="pres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Quellen: McKinsey State of AI 2025, Stanford AI Index 2025, BCG 2024. Konkrete Zahl zur Adoption-Tiefe (1× pro Woche, 1× pro Tag, in Kernprozesse) im Anhang.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Detail-Timeline siehe Greenberg-Traurig 2025 Compliance-Guide. Übergang: “Bevor wir zur Roadmap kommen, kurz zu den Kontrollen…”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15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Letzte Folie — Schlussbotschaft für die Diskussion: “Wenn wir in 12 Monaten zurückblicken, woran erkennen wir, dass dieses Programm erfolgreich war?”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19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46404" y="569214"/>
            <a:ext cx="7063740" cy="3031236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5400" baseline="0"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6404" y="3600450"/>
            <a:ext cx="7063740" cy="1268730"/>
          </a:xfrm>
        </p:spPr>
        <p:txBody>
          <a:bodyPr>
            <a:normAutofit/>
          </a:bodyPr>
          <a:lstStyle>
            <a:lvl1pPr marL="0" indent="0" algn="l">
              <a:buNone/>
              <a:defRPr sz="1650" baseline="0">
                <a:solidFill>
                  <a:schemeClr val="tx1">
                    <a:lumMod val="75000"/>
                  </a:schemeClr>
                </a:solidFill>
              </a:defRPr>
            </a:lvl1pPr>
            <a:lvl2pPr marL="342900" indent="0" algn="ctr">
              <a:buNone/>
              <a:defRPr sz="1650"/>
            </a:lvl2pPr>
            <a:lvl3pPr marL="685800" indent="0" algn="ctr">
              <a:buNone/>
              <a:defRPr sz="165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3429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9972294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1570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6404" y="569214"/>
            <a:ext cx="7063740" cy="3031236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54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6404" y="3600450"/>
            <a:ext cx="7063740" cy="1268730"/>
          </a:xfrm>
        </p:spPr>
        <p:txBody>
          <a:bodyPr anchor="t">
            <a:normAutofit/>
          </a:bodyPr>
          <a:lstStyle>
            <a:lvl1pPr marL="0" indent="0">
              <a:buNone/>
              <a:defRPr sz="16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3429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6241623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46404" y="1371600"/>
            <a:ext cx="3360420" cy="3263503"/>
          </a:xfrm>
        </p:spPr>
        <p:txBody>
          <a:bodyPr/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94860" y="1371600"/>
            <a:ext cx="3360420" cy="3263503"/>
          </a:xfrm>
        </p:spPr>
        <p:txBody>
          <a:bodyPr/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50172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6404" y="1285241"/>
            <a:ext cx="3360420" cy="54864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500" b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46404" y="1880662"/>
            <a:ext cx="3360420" cy="2748488"/>
          </a:xfrm>
        </p:spPr>
        <p:txBody>
          <a:bodyPr/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94860" y="1285241"/>
            <a:ext cx="3360420" cy="54864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15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marL="0" lvl="0" indent="0" algn="l" defTabSz="685800" rtl="0" eaLnBrk="1" latinLnBrk="0" hangingPunct="1">
              <a:lnSpc>
                <a:spcPct val="90000"/>
              </a:lnSpc>
              <a:spcBef>
                <a:spcPts val="1500"/>
              </a:spcBef>
              <a:buFontTx/>
              <a:buNone/>
            </a:pPr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94860" y="1880662"/>
            <a:ext cx="3360420" cy="2748488"/>
          </a:xfrm>
        </p:spPr>
        <p:txBody>
          <a:bodyPr/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5937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7596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8284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342900"/>
            <a:ext cx="2400300" cy="1200148"/>
          </a:xfrm>
        </p:spPr>
        <p:txBody>
          <a:bodyPr anchor="b">
            <a:normAutofit/>
          </a:bodyPr>
          <a:lstStyle>
            <a:lvl1pPr>
              <a:defRPr sz="2400" b="0" baseline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78200" y="514350"/>
            <a:ext cx="4559300" cy="4114800"/>
          </a:xfrm>
        </p:spPr>
        <p:txBody>
          <a:bodyPr/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936" y="1574801"/>
            <a:ext cx="2400300" cy="28575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600"/>
              </a:spcBef>
              <a:buNone/>
              <a:defRPr sz="975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2544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3829050"/>
            <a:ext cx="8469630" cy="13144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943350"/>
            <a:ext cx="7486650" cy="685800"/>
          </a:xfrm>
        </p:spPr>
        <p:txBody>
          <a:bodyPr anchor="b">
            <a:normAutofit/>
          </a:bodyPr>
          <a:lstStyle>
            <a:lvl1pPr>
              <a:defRPr sz="2100" b="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1"/>
            <a:ext cx="8469630" cy="3846692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581442"/>
            <a:ext cx="7486650" cy="447758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975">
                <a:solidFill>
                  <a:schemeClr val="bg1">
                    <a:lumMod val="85000"/>
                  </a:schemeClr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20442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4999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86525" y="285750"/>
            <a:ext cx="1857375" cy="4423172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71500" y="285750"/>
            <a:ext cx="5800725" cy="4423172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701113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469630" y="0"/>
            <a:ext cx="685800" cy="51435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46404" y="274320"/>
            <a:ext cx="7269480" cy="99417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6404" y="1371600"/>
            <a:ext cx="6446520" cy="32635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8098157" y="748903"/>
            <a:ext cx="142874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7469506" y="3034903"/>
            <a:ext cx="268605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88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69630" y="4629150"/>
            <a:ext cx="685800" cy="445294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27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6212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 spc="-38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37160" indent="-137160" algn="l" defTabSz="685800" rtl="0" eaLnBrk="1" latinLnBrk="0" hangingPunct="1">
        <a:lnSpc>
          <a:spcPct val="95000"/>
        </a:lnSpc>
        <a:spcBef>
          <a:spcPts val="1050"/>
        </a:spcBef>
        <a:spcAft>
          <a:spcPts val="150"/>
        </a:spcAft>
        <a:buClr>
          <a:schemeClr val="accent1"/>
        </a:buClr>
        <a:buSzPct val="80000"/>
        <a:buFont typeface="Arial" pitchFamily="34" charset="0"/>
        <a:buChar char="•"/>
        <a:defRPr sz="1350" kern="1200" spc="8" baseline="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37160" algn="l" defTabSz="685800" rtl="0" eaLnBrk="1" latinLnBrk="0" hangingPunct="1">
        <a:lnSpc>
          <a:spcPct val="90000"/>
        </a:lnSpc>
        <a:spcBef>
          <a:spcPts val="225"/>
        </a:spcBef>
        <a:spcAft>
          <a:spcPts val="225"/>
        </a:spcAft>
        <a:buClr>
          <a:schemeClr val="accent1"/>
        </a:buClr>
        <a:buFont typeface="Wingdings 2" pitchFamily="18" charset="2"/>
        <a:buChar char=""/>
        <a:defRPr sz="1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548640" indent="-137160" algn="l" defTabSz="685800" rtl="0" eaLnBrk="1" latinLnBrk="0" hangingPunct="1">
        <a:lnSpc>
          <a:spcPct val="90000"/>
        </a:lnSpc>
        <a:spcBef>
          <a:spcPts val="225"/>
        </a:spcBef>
        <a:spcAft>
          <a:spcPts val="225"/>
        </a:spcAft>
        <a:buClr>
          <a:schemeClr val="accent1"/>
        </a:buClr>
        <a:buFont typeface="Wingdings 2" pitchFamily="18" charset="2"/>
        <a:buChar char=""/>
        <a:defRPr sz="105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754380" indent="-137160" algn="l" defTabSz="685800" rtl="0" eaLnBrk="1" latinLnBrk="0" hangingPunct="1">
        <a:lnSpc>
          <a:spcPct val="90000"/>
        </a:lnSpc>
        <a:spcBef>
          <a:spcPts val="225"/>
        </a:spcBef>
        <a:spcAft>
          <a:spcPts val="225"/>
        </a:spcAft>
        <a:buClr>
          <a:schemeClr val="accent1"/>
        </a:buClr>
        <a:buFont typeface="Wingdings 2" pitchFamily="18" charset="2"/>
        <a:buChar char=""/>
        <a:defRPr sz="105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960120" indent="-137160" algn="l" defTabSz="685800" rtl="0" eaLnBrk="1" latinLnBrk="0" hangingPunct="1">
        <a:lnSpc>
          <a:spcPct val="90000"/>
        </a:lnSpc>
        <a:spcBef>
          <a:spcPts val="225"/>
        </a:spcBef>
        <a:spcAft>
          <a:spcPts val="225"/>
        </a:spcAft>
        <a:buClr>
          <a:schemeClr val="accent1"/>
        </a:buClr>
        <a:buFont typeface="Wingdings 2" pitchFamily="18" charset="2"/>
        <a:buChar char=""/>
        <a:defRPr sz="105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200000" indent="-171450" algn="l" defTabSz="685800" rtl="0" eaLnBrk="1" latinLnBrk="0" hangingPunct="1">
        <a:lnSpc>
          <a:spcPct val="90000"/>
        </a:lnSpc>
        <a:spcBef>
          <a:spcPts val="225"/>
        </a:spcBef>
        <a:spcAft>
          <a:spcPts val="225"/>
        </a:spcAft>
        <a:buClr>
          <a:schemeClr val="accent1"/>
        </a:buClr>
        <a:buFont typeface="Wingdings 2" pitchFamily="18" charset="2"/>
        <a:buChar char=""/>
        <a:defRPr sz="105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425000" indent="-171450" algn="l" defTabSz="685800" rtl="0" eaLnBrk="1" latinLnBrk="0" hangingPunct="1">
        <a:lnSpc>
          <a:spcPct val="90000"/>
        </a:lnSpc>
        <a:spcBef>
          <a:spcPts val="225"/>
        </a:spcBef>
        <a:spcAft>
          <a:spcPts val="225"/>
        </a:spcAft>
        <a:buClr>
          <a:schemeClr val="accent1"/>
        </a:buClr>
        <a:buFont typeface="Wingdings 2" pitchFamily="18" charset="2"/>
        <a:buChar char=""/>
        <a:defRPr sz="105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1650000" indent="-171450" algn="l" defTabSz="685800" rtl="0" eaLnBrk="1" latinLnBrk="0" hangingPunct="1">
        <a:lnSpc>
          <a:spcPct val="90000"/>
        </a:lnSpc>
        <a:spcBef>
          <a:spcPts val="225"/>
        </a:spcBef>
        <a:spcAft>
          <a:spcPts val="225"/>
        </a:spcAft>
        <a:buClr>
          <a:schemeClr val="accent1"/>
        </a:buClr>
        <a:buFont typeface="Wingdings 2" pitchFamily="18" charset="2"/>
        <a:buChar char=""/>
        <a:defRPr sz="105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1875000" indent="-171450" algn="l" defTabSz="685800" rtl="0" eaLnBrk="1" latinLnBrk="0" hangingPunct="1">
        <a:lnSpc>
          <a:spcPct val="90000"/>
        </a:lnSpc>
        <a:spcBef>
          <a:spcPts val="225"/>
        </a:spcBef>
        <a:spcAft>
          <a:spcPts val="225"/>
        </a:spcAft>
        <a:buClr>
          <a:schemeClr val="accent1"/>
        </a:buClr>
        <a:buFont typeface="Wingdings 2" pitchFamily="18" charset="2"/>
        <a:buChar char=""/>
        <a:defRPr sz="105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KI in Unternehmen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Strategie, Wert &amp; Umsetzung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23. Mai 2026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indent="-342900" marL="342900">
              <a:buAutoNum type="arabicPeriod"/>
            </a:pPr>
            <a:r>
              <a:rPr/>
              <a:t>Marktdynamik</a:t>
            </a:r>
          </a:p>
          <a:p>
            <a:pPr lvl="0" indent="-342900" marL="342900">
              <a:buAutoNum startAt="2" type="arabicPeriod"/>
            </a:pPr>
            <a:r>
              <a:rPr/>
              <a:t>Werthebel</a:t>
            </a:r>
          </a:p>
          <a:p>
            <a:pPr lvl="0" indent="-342900" marL="342900">
              <a:buAutoNum startAt="3" type="arabicPeriod"/>
            </a:pPr>
            <a:r>
              <a:rPr/>
              <a:t>Daten &amp; Plattform</a:t>
            </a:r>
          </a:p>
          <a:p>
            <a:pPr lvl="0" indent="-342900" marL="342900">
              <a:buAutoNum startAt="4" type="arabicPeriod"/>
            </a:pPr>
            <a:r>
              <a:rPr/>
              <a:t>Governance</a:t>
            </a:r>
          </a:p>
          <a:p>
            <a:pPr lvl="0" indent="-342900" marL="342900">
              <a:buAutoNum startAt="5" type="arabicPeriod"/>
            </a:pPr>
            <a:r>
              <a:rPr/>
              <a:t>Roadmap &amp; Fazit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1: Marktdynamik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Adoption steigt rasant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78 % der Unternehmen nutzen GenAI wöchentlich</a:t>
            </a:r>
          </a:p>
          <a:p>
            <a:pPr lvl="0"/>
            <a:r>
              <a:rPr/>
              <a:t>Pilot-zu-Produktion bleibt das Nadelöhr</a:t>
            </a:r>
          </a:p>
          <a:p>
            <a:pPr lvl="0"/>
            <a:r>
              <a:rPr/>
              <a:t>Investitionen verdoppeln sich jedes Jahr</a:t>
            </a:r>
          </a:p>
          <a:p>
            <a:pPr lvl="0"/>
            <a:r>
              <a:rPr/>
              <a:t>Skill-Gap wird zur Engpass-Disziplin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Markttrends 2026 im Bild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946404" y="2057573"/>
            <a:ext cx="3360420" cy="1891557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Agentic AI verlässt das Lab</a:t>
            </a:r>
          </a:p>
          <a:p>
            <a:pPr lvl="0"/>
            <a:r>
              <a:rPr/>
              <a:t>Multimodale Modelle werden Standard</a:t>
            </a:r>
          </a:p>
          <a:p>
            <a:pPr lvl="0"/>
            <a:r>
              <a:rPr/>
              <a:t>On-Device-Inferenz für sensible Daten</a:t>
            </a:r>
          </a:p>
          <a:p>
            <a:pPr lvl="0"/>
            <a:r>
              <a:rPr/>
              <a:t>Open-Source-Modelle holen auf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Kernzahlen 2024–2026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939800" y="1371600"/>
          <a:ext cx="6438900" cy="325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1600200"/>
                <a:gridCol w="1600200"/>
                <a:gridCol w="1600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Indikator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2026e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KI-Nutzung (wöchentlich)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56 %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71 %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78 %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Skalierte Use Cases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19 %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26 %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KI-Investitionen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180 Mrd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252 Mrd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320 Mrd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Skills-Gap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Governance-Reife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niedrig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2: Werthebel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Wo Wert entsteht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Umsatz: Pricing, Sales, Cross-Sell</a:t>
            </a:r>
          </a:p>
          <a:p>
            <a:pPr lvl="0"/>
            <a:r>
              <a:rPr/>
              <a:t>Kosten: Automation und Qualität</a:t>
            </a:r>
          </a:p>
          <a:p>
            <a:pPr lvl="0"/>
            <a:r>
              <a:rPr/>
              <a:t>Tempo: kürzere Zyklen, weniger Rework</a:t>
            </a:r>
          </a:p>
          <a:p>
            <a:pPr lvl="0"/>
            <a:r>
              <a:rPr/>
              <a:t>Innovation: neue Produkte &amp; Services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94860" y="2057573"/>
            <a:ext cx="3360420" cy="1891557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Was Andrew Ng sagt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indent="0">
              <a:buNone/>
            </a:pPr>
            <a:r>
              <a:rPr sz="2000" i="1"/>
              <a:t>KI ersetzt nicht Menschen. Menschen mit KI ersetzen Menschen ohne KI.</a:t>
            </a:r>
          </a:p>
          <a:p>
            <a:pPr lvl="0" indent="0">
              <a:buNone/>
            </a:pPr>
            <a:r>
              <a:rPr sz="2000" i="1"/>
              <a:t>— frei nach Andrew Ng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Use-Case-Portfolio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939800" y="1371600"/>
          <a:ext cx="6438900" cy="325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6300"/>
                <a:gridCol w="2146300"/>
                <a:gridCol w="21463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Bereich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Use 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Reife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Service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Agent Assist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Marketing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Content-Engine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Operations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Forecasting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Recruiting Copilot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Finance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Anomalie-Erkennung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niedrig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3: Daten &amp; Plattform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Daten als Engpass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946404" y="2057573"/>
            <a:ext cx="3360420" cy="1891557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Datenqualität limitiert die meisten Piloten</a:t>
            </a:r>
          </a:p>
          <a:p>
            <a:pPr lvl="0"/>
            <a:r>
              <a:rPr/>
              <a:t>Ownership fehlt fast überall</a:t>
            </a:r>
          </a:p>
          <a:p>
            <a:pPr lvl="0"/>
            <a:r>
              <a:rPr/>
              <a:t>Vektor-DBs werden zur Pflicht</a:t>
            </a:r>
          </a:p>
          <a:p>
            <a:pPr lvl="0"/>
            <a:r>
              <a:rPr/>
              <a:t>Cost-Tracking pro Workflow wird neu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Architektur-Zielbild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727200" y="1371600"/>
            <a:ext cx="4876800" cy="2743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4: Governance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EU AI Act kompakt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Anwendungspflicht ab 2026 stufenweise</a:t>
            </a:r>
          </a:p>
          <a:p>
            <a:pPr lvl="0"/>
            <a:r>
              <a:rPr/>
              <a:t>High-Risk-Pflichten ab August 2026</a:t>
            </a:r>
          </a:p>
          <a:p>
            <a:pPr lvl="0"/>
            <a:r>
              <a:rPr/>
              <a:t>Dokumentation und Audit-Trail werden Pflicht</a:t>
            </a:r>
          </a:p>
          <a:p>
            <a:pPr lvl="0"/>
            <a:r>
              <a:rPr/>
              <a:t>Schatten-KI ist heute schon ein Risiko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5: Roadmap &amp; Fazit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12-Monats-Roadmap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939800" y="1371600"/>
          <a:ext cx="6438900" cy="325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6300"/>
                <a:gridCol w="2146300"/>
                <a:gridCol w="21463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Quartal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Fokus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Ergebnis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Strategie &amp; Portfolio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Use-Case-Liste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Plattform &amp; Piloten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produktive MVPs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Skalierung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Rollout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Erfolgsfaktoren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Vorstands-Sponsoring mit klarer Verantwortung</a:t>
            </a:r>
          </a:p>
          <a:p>
            <a:pPr lvl="0"/>
            <a:r>
              <a:rPr/>
              <a:t>Fokus auf wenige, messbare Werthebel</a:t>
            </a:r>
          </a:p>
          <a:p>
            <a:pPr lvl="0"/>
            <a:r>
              <a:rPr/>
              <a:t>Daten- und Prozessarbeit vor Modell-Faszination</a:t>
            </a:r>
          </a:p>
          <a:p>
            <a:pPr lvl="0"/>
            <a:r>
              <a:rPr/>
              <a:t>Governance als Beschleuniger, nicht als Bremse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Fazit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KI ist Organisationsentwicklung, kein IT-Projekt</a:t>
            </a:r>
          </a:p>
          <a:p>
            <a:pPr lvl="0"/>
            <a:r>
              <a:rPr/>
              <a:t>Wettbewerbsvorteil entsteht durch integrierte Workflows</a:t>
            </a:r>
          </a:p>
          <a:p>
            <a:pPr lvl="0"/>
            <a:r>
              <a:rPr/>
              <a:t>Verantwortungsvolle Skalierung braucht Leitplanken</a:t>
            </a:r>
          </a:p>
          <a:p>
            <a:pPr lvl="0"/>
            <a:r>
              <a:rPr/>
              <a:t>Jetzt zählt: priorisieren, produktiv setzen, lernen, skalieren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theme/theme1.xml><?xml version="1.0" encoding="utf-8"?>
<a:theme xmlns:a="http://schemas.openxmlformats.org/drawingml/2006/main" name="Aussicht">
  <a:themeElements>
    <a:clrScheme name="Aussicht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Aussicht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Aussicht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Aussicht</Template>
  <TotalTime>0</TotalTime>
  <Words>0</Words>
  <Application>Microsoft Office PowerPoint</Application>
  <PresentationFormat>Bildschirmpräsentation (16:9)</PresentationFormat>
  <Paragraphs>0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6" baseType="lpstr">
      <vt:lpstr>Arial</vt:lpstr>
      <vt:lpstr>Calibri</vt:lpstr>
      <vt:lpstr>Century Schoolbook</vt:lpstr>
      <vt:lpstr>Wingdings 2</vt:lpstr>
      <vt:lpstr>Aussicht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 in Unternehmen</dc:title>
  <dc:creator>Strategie, Wert &amp; Umsetzung</dc:creator>
  <cp:keywords/>
  <dcterms:created xsi:type="dcterms:W3CDTF">2026-05-23T07:47:04Z</dcterms:created>
  <dcterms:modified xsi:type="dcterms:W3CDTF">2026-05-23T07:47:04Z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23. Mai 2026</vt:lpwstr>
  </property>
</Properties>
</file>