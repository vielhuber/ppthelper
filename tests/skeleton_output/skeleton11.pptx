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g" ContentType="image/jpeg"/>
  <Override PartName="/docProps/app.xml" ContentType="application/vnd.openxmlformats-officedocument.extended-properties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2.xml" ContentType="application/vnd.openxmlformats-officedocument.theme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726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32"/>
          <a:sy d="100" n="132"/>
        </p:scale>
        <p:origin x="126" y="264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notesMaster" Target="notesMasters/notesMaster1.xml" /><Relationship Id="rId25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24" Type="http://schemas.openxmlformats.org/officeDocument/2006/relationships/theme" Target="theme/theme1.xml" /><Relationship Id="rId23" Type="http://schemas.openxmlformats.org/officeDocument/2006/relationships/viewProps" Target="viewProps.xml" /><Relationship Id="rId22" Type="http://schemas.openxmlformats.org/officeDocument/2006/relationships/presProps" Target="presProp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19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Quellen: McKinsey State of AI 2025, Stanford AI Index 2025, BCG 2024. Konkrete Zahl zur Adoption-Tiefe (1× pro Woche, 1× pro Tag, in Kernprozesse) im Anhang.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Detail-Timeline siehe Greenberg-Traurig 2025 Compliance-Guide. Übergang: “Bevor wir zur Roadmap kommen, kurz zu den Kontrollen…”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15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Letzte Folie — Schlussbotschaft für die Diskussion: “Wenn wir in 12 Monaten zurückblicken, woran erkennen wir, dass dieses Programm erfolgreich war?”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19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4800600"/>
            <a:ext cx="9141619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475073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569214"/>
            <a:ext cx="7543800" cy="267462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6000" spc="-38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3341715"/>
            <a:ext cx="7543800" cy="85725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1800" cap="all" spc="150" baseline="0">
                <a:solidFill>
                  <a:schemeClr val="tx2"/>
                </a:solidFill>
                <a:latin typeface="+mj-lt"/>
              </a:defRPr>
            </a:lvl1pPr>
            <a:lvl2pPr marL="342900" indent="0" algn="ctr">
              <a:buNone/>
              <a:defRPr sz="1800"/>
            </a:lvl2pPr>
            <a:lvl3pPr marL="685800" indent="0" algn="ctr">
              <a:buNone/>
              <a:defRPr sz="180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325755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10291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72978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Abschnitts-&#10;überschrif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4800600"/>
            <a:ext cx="9141619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475073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69214"/>
            <a:ext cx="7543800" cy="267462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6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3339846"/>
            <a:ext cx="7543800" cy="85725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1800" cap="all" spc="150" baseline="0">
                <a:solidFill>
                  <a:schemeClr val="tx2"/>
                </a:solidFill>
                <a:latin typeface="+mj-lt"/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325755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86253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14953"/>
            <a:ext cx="7543800" cy="1088068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59" y="1384301"/>
            <a:ext cx="3703320" cy="301752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384301"/>
            <a:ext cx="3703320" cy="301752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68529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14953"/>
            <a:ext cx="7543800" cy="1088068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384539"/>
            <a:ext cx="3703320" cy="55221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1500" b="0" cap="all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1936751"/>
            <a:ext cx="3703320" cy="25336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384539"/>
            <a:ext cx="3703320" cy="55221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1500" b="0" cap="all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1936751"/>
            <a:ext cx="3703320" cy="25336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67175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79930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4800600"/>
            <a:ext cx="9141619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475073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76175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45769"/>
            <a:ext cx="2400300" cy="1714500"/>
          </a:xfrm>
        </p:spPr>
        <p:txBody>
          <a:bodyPr anchor="b">
            <a:normAutofit/>
          </a:bodyPr>
          <a:lstStyle>
            <a:lvl1pPr>
              <a:defRPr sz="2700" b="0">
                <a:solidFill>
                  <a:srgbClr val="FFFFFF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0450" y="548640"/>
            <a:ext cx="4869180" cy="39433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194560"/>
            <a:ext cx="2400300" cy="2534343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125">
                <a:solidFill>
                  <a:srgbClr val="FFFFFF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4844839"/>
            <a:ext cx="1963883" cy="273844"/>
          </a:xfrm>
        </p:spPr>
        <p:txBody>
          <a:bodyPr/>
          <a:lstStyle>
            <a:lvl1pPr algn="l">
              <a:defRPr/>
            </a:lvl1pPr>
          </a:lstStyle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4844839"/>
            <a:ext cx="3486150" cy="273844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03899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3714750"/>
            <a:ext cx="9141619" cy="14287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368630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3806190"/>
            <a:ext cx="7584948" cy="617220"/>
          </a:xfrm>
        </p:spPr>
        <p:txBody>
          <a:bodyPr lIns="91440" tIns="0" rIns="91440" bIns="0" anchor="b">
            <a:noAutofit/>
          </a:bodyPr>
          <a:lstStyle>
            <a:lvl1pPr>
              <a:defRPr sz="2700" b="0">
                <a:solidFill>
                  <a:srgbClr val="FFFFFF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3686307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60" y="4430267"/>
            <a:ext cx="7584948" cy="44577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450"/>
              </a:spcAft>
              <a:buNone/>
              <a:defRPr sz="1125">
                <a:solidFill>
                  <a:srgbClr val="FFFFFF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09897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25564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4800600"/>
            <a:ext cx="9141619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475073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11084"/>
            <a:ext cx="1971675" cy="4318066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11083"/>
            <a:ext cx="5800725" cy="4318067"/>
          </a:xfrm>
        </p:spPr>
        <p:txBody>
          <a:bodyPr vert="eaVert" lIns="45720" tIns="0" rIns="45720" bIns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1346291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4800600"/>
            <a:ext cx="9144000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4750737"/>
            <a:ext cx="9144001" cy="494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14953"/>
            <a:ext cx="7543800" cy="108806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384301"/>
            <a:ext cx="7543800" cy="301752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4844839"/>
            <a:ext cx="1854203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rgbClr val="FFFFFF"/>
                </a:solidFill>
              </a:defRPr>
            </a:lvl1pPr>
          </a:lstStyle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4844839"/>
            <a:ext cx="3617103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4844839"/>
            <a:ext cx="98401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rgbClr val="FFFFFF"/>
                </a:solidFill>
              </a:defRPr>
            </a:lvl1pPr>
          </a:lstStyle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303384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41923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txStyles>
    <p:titleStyle>
      <a:lvl1pPr algn="l" defTabSz="685800" rtl="0" eaLnBrk="1" latinLnBrk="0" hangingPunct="1">
        <a:lnSpc>
          <a:spcPct val="85000"/>
        </a:lnSpc>
        <a:spcBef>
          <a:spcPct val="0"/>
        </a:spcBef>
        <a:buNone/>
        <a:defRPr sz="3600" kern="1200" spc="-38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68580" indent="-68580" algn="l" defTabSz="685800" rtl="0" eaLnBrk="1" latinLnBrk="0" hangingPunct="1">
        <a:lnSpc>
          <a:spcPct val="90000"/>
        </a:lnSpc>
        <a:spcBef>
          <a:spcPts val="900"/>
        </a:spcBef>
        <a:spcAft>
          <a:spcPts val="15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5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28803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42519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56235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69951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82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97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12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27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2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2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2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pn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KI in Unternehmen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Strategie, Wert &amp; Umsetzung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23. Mai 2026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 indent="-342900" marL="342900">
              <a:buAutoNum type="arabicPeriod"/>
            </a:pPr>
            <a:r>
              <a:rPr/>
              <a:t>Marktdynamik</a:t>
            </a:r>
          </a:p>
          <a:p>
            <a:pPr lvl="0" indent="-342900" marL="342900">
              <a:buAutoNum startAt="2" type="arabicPeriod"/>
            </a:pPr>
            <a:r>
              <a:rPr/>
              <a:t>Werthebel</a:t>
            </a:r>
          </a:p>
          <a:p>
            <a:pPr lvl="0" indent="-342900" marL="342900">
              <a:buAutoNum startAt="3" type="arabicPeriod"/>
            </a:pPr>
            <a:r>
              <a:rPr/>
              <a:t>Daten &amp; Plattform</a:t>
            </a:r>
          </a:p>
          <a:p>
            <a:pPr lvl="0" indent="-342900" marL="342900">
              <a:buAutoNum startAt="4" type="arabicPeriod"/>
            </a:pPr>
            <a:r>
              <a:rPr/>
              <a:t>Governance</a:t>
            </a:r>
          </a:p>
          <a:p>
            <a:pPr lvl="0" indent="-342900" marL="342900">
              <a:buAutoNum startAt="5" type="arabicPeriod"/>
            </a:pPr>
            <a:r>
              <a:rPr/>
              <a:t>Roadmap &amp; Fazit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1: Marktdynamik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Adoption steigt rasant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78 % der Unternehmen nutzen GenAI wöchentlich</a:t>
            </a:r>
          </a:p>
          <a:p>
            <a:pPr lvl="0"/>
            <a:r>
              <a:rPr/>
              <a:t>Pilot-zu-Produktion bleibt das Nadelöhr</a:t>
            </a:r>
          </a:p>
          <a:p>
            <a:pPr lvl="0"/>
            <a:r>
              <a:rPr/>
              <a:t>Investitionen verdoppeln sich jedes Jahr</a:t>
            </a:r>
          </a:p>
          <a:p>
            <a:pPr lvl="0"/>
            <a:r>
              <a:rPr/>
              <a:t>Skill-Gap wird zur Engpass-Disziplin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Markttrends 2026 im Bild</a:t>
            </a:r>
          </a:p>
        </p:txBody>
      </p:sp>
      <p:pic>
        <p:nvPicPr>
          <p:cNvPr descr="/tmp/ppthelper_skeleton_placehold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822959" y="1850774"/>
            <a:ext cx="3703320" cy="2084573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/>
              <a:t>Agentic AI verlässt das Lab</a:t>
            </a:r>
          </a:p>
          <a:p>
            <a:pPr lvl="0"/>
            <a:r>
              <a:rPr/>
              <a:t>Multimodale Modelle werden Standard</a:t>
            </a:r>
          </a:p>
          <a:p>
            <a:pPr lvl="0"/>
            <a:r>
              <a:rPr/>
              <a:t>On-Device-Inferenz für sensible Daten</a:t>
            </a:r>
          </a:p>
          <a:p>
            <a:pPr lvl="0"/>
            <a:r>
              <a:rPr/>
              <a:t>Open-Source-Modelle holen auf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Kernzahlen 2024–2026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812800" y="1384300"/>
          <a:ext cx="7543800" cy="31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9600"/>
                <a:gridCol w="1879600"/>
                <a:gridCol w="1879600"/>
                <a:gridCol w="18796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Indikator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2026e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KI-Nutzung (wöchentlich)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56 %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71 %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78 %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Skalierte Use Cases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12 %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19 %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26 %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KI-Investitionen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180 Mrd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252 Mrd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320 Mrd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Skills-Gap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hoch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hoch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Governance-Reife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niedrig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2: Werthebel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Wo Wert entsteht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Umsatz: Pricing, Sales, Cross-Sell</a:t>
            </a:r>
          </a:p>
          <a:p>
            <a:pPr lvl="0"/>
            <a:r>
              <a:rPr/>
              <a:t>Kosten: Automation und Qualität</a:t>
            </a:r>
          </a:p>
          <a:p>
            <a:pPr lvl="0"/>
            <a:r>
              <a:rPr/>
              <a:t>Tempo: kürzere Zyklen, weniger Rework</a:t>
            </a:r>
          </a:p>
          <a:p>
            <a:pPr lvl="0"/>
            <a:r>
              <a:rPr/>
              <a:t>Innovation: neue Produkte &amp; Services</a:t>
            </a:r>
          </a:p>
        </p:txBody>
      </p:sp>
      <p:pic>
        <p:nvPicPr>
          <p:cNvPr descr="/tmp/ppthelper_skeleton_placehold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663440" y="1850774"/>
            <a:ext cx="3703320" cy="2084573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Was Andrew Ng sagt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 indent="0">
              <a:buNone/>
            </a:pPr>
            <a:r>
              <a:rPr sz="2000" i="1"/>
              <a:t>KI ersetzt nicht Menschen. Menschen mit KI ersetzen Menschen ohne KI.</a:t>
            </a:r>
          </a:p>
          <a:p>
            <a:pPr lvl="0" indent="0">
              <a:buNone/>
            </a:pPr>
            <a:r>
              <a:rPr sz="2000" i="1"/>
              <a:t>— frei nach Andrew Ng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Use-Case-Portfolio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812800" y="1384300"/>
          <a:ext cx="7543800" cy="31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/>
                <a:gridCol w="2514600"/>
                <a:gridCol w="25146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Bereich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Use Case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Reife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Service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Agent Assist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hoch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Marketing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Content-Engine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hoch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Operations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Forecasting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Recruiting Copilot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Finance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Anomalie-Erkennung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niedrig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3: Daten &amp; Plattform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Daten als Engpass</a:t>
            </a:r>
          </a:p>
        </p:txBody>
      </p:sp>
      <p:pic>
        <p:nvPicPr>
          <p:cNvPr descr="/tmp/ppthelper_skeleton_placehold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822959" y="1850774"/>
            <a:ext cx="3703320" cy="2084573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/>
              <a:t>Datenqualität limitiert die meisten Piloten</a:t>
            </a:r>
          </a:p>
          <a:p>
            <a:pPr lvl="0"/>
            <a:r>
              <a:rPr/>
              <a:t>Ownership fehlt fast überall</a:t>
            </a:r>
          </a:p>
          <a:p>
            <a:pPr lvl="0"/>
            <a:r>
              <a:rPr/>
              <a:t>Vektor-DBs werden zur Pflicht</a:t>
            </a:r>
          </a:p>
          <a:p>
            <a:pPr lvl="0"/>
            <a:r>
              <a:rPr/>
              <a:t>Cost-Tracking pro Workflow wird neu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Architektur-Zielbild</a:t>
            </a:r>
          </a:p>
        </p:txBody>
      </p:sp>
      <p:pic>
        <p:nvPicPr>
          <p:cNvPr descr="/tmp/ppthelper_skeleton_placehold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362200" y="1384300"/>
            <a:ext cx="4445000" cy="2501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4: Governance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EU AI Act kompakt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Anwendungspflicht ab 2026 stufenweise</a:t>
            </a:r>
          </a:p>
          <a:p>
            <a:pPr lvl="0"/>
            <a:r>
              <a:rPr/>
              <a:t>High-Risk-Pflichten ab August 2026</a:t>
            </a:r>
          </a:p>
          <a:p>
            <a:pPr lvl="0"/>
            <a:r>
              <a:rPr/>
              <a:t>Dokumentation und Audit-Trail werden Pflicht</a:t>
            </a:r>
          </a:p>
          <a:p>
            <a:pPr lvl="0"/>
            <a:r>
              <a:rPr/>
              <a:t>Schatten-KI ist heute schon ein Risiko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5: Roadmap &amp; Fazit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12-Monats-Roadmap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812800" y="1384300"/>
          <a:ext cx="7543800" cy="3009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/>
                <a:gridCol w="2514600"/>
                <a:gridCol w="25146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Quartal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Fokus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Ergebnis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Strategie &amp; Portfolio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Use-Case-Liste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Plattform &amp; Piloten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produktive MVPs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Skalierung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Rollout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Erfolgsfaktoren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Vorstands-Sponsoring mit klarer Verantwortung</a:t>
            </a:r>
          </a:p>
          <a:p>
            <a:pPr lvl="0"/>
            <a:r>
              <a:rPr/>
              <a:t>Fokus auf wenige, messbare Werthebel</a:t>
            </a:r>
          </a:p>
          <a:p>
            <a:pPr lvl="0"/>
            <a:r>
              <a:rPr/>
              <a:t>Daten- und Prozessarbeit vor Modell-Faszination</a:t>
            </a:r>
          </a:p>
          <a:p>
            <a:pPr lvl="0"/>
            <a:r>
              <a:rPr/>
              <a:t>Governance als Beschleuniger, nicht als Bremse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Fazit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KI ist Organisationsentwicklung, kein IT-Projekt</a:t>
            </a:r>
          </a:p>
          <a:p>
            <a:pPr lvl="0"/>
            <a:r>
              <a:rPr/>
              <a:t>Wettbewerbsvorteil entsteht durch integrierte Workflows</a:t>
            </a:r>
          </a:p>
          <a:p>
            <a:pPr lvl="0"/>
            <a:r>
              <a:rPr/>
              <a:t>Verantwortungsvolle Skalierung braucht Leitplanken</a:t>
            </a:r>
          </a:p>
          <a:p>
            <a:pPr lvl="0"/>
            <a:r>
              <a:rPr/>
              <a:t>Jetzt zählt: priorisieren, produktiv setzen, lernen, skalieren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theme/theme1.xml><?xml version="1.0" encoding="utf-8"?>
<a:theme xmlns:a="http://schemas.openxmlformats.org/drawingml/2006/main" name="Rückblick">
  <a:themeElements>
    <a:clrScheme name="Rückblick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ückblick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ückblick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0</TotalTime>
  <Words>0</Words>
  <Application>Microsoft Office PowerPoint</Application>
  <PresentationFormat>Bildschirmpräsentation (16:9)</PresentationFormat>
  <Paragraphs>0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4" baseType="lpstr">
      <vt:lpstr>Calibri</vt:lpstr>
      <vt:lpstr>Calibri Light</vt:lpstr>
      <vt:lpstr>Rückblick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KI in Unternehmen</dc:title>
  <dc:creator>Strategie, Wert &amp; Umsetzung</dc:creator>
  <cp:keywords/>
  <dcterms:created xsi:type="dcterms:W3CDTF">2026-05-23T06:04:19Z</dcterms:created>
  <dcterms:modified xsi:type="dcterms:W3CDTF">2026-05-23T06:04:19Z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23. Mai 2026</vt:lpwstr>
  </property>
</Properties>
</file>