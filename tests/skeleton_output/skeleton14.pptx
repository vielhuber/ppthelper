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Override PartName="/docProps/app.xml" ContentType="application/vnd.openxmlformats-officedocument.extended-properti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2.xml" ContentType="application/vnd.openxmlformats-officedocument.theme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notesMasters/notesMaster1.xml" ContentType="application/vnd.openxmlformats-officedocument.presentationml.notesMaster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autoCompressPictures="0" saveSubsetFonts="1">
  <p:sldMasterIdLst>
    <p:sldMasterId id="2147483726" r:id="rId1"/>
  </p:sldMasterIdLst>
  <p:notesMasterIdLst>
    <p:notesMasterId r:id="rId2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</p:sldIdLst>
  <p:sldSz cx="9144000" cy="5143500" type="screen16x9"/>
  <p:notesSz cx="6858000" cy="9144000"/>
  <p:defaultTextStyle>
    <a:defPPr>
      <a:defRPr lang="en-US"/>
    </a:defPPr>
    <a:lvl1pPr algn="l" defTabSz="4572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4572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4572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4572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4572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4572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4572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4572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4572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autoAdjust="0" sz="15643"/>
    <p:restoredTop autoAdjust="0" sz="94694"/>
  </p:normalViewPr>
  <p:slideViewPr>
    <p:cSldViewPr snapToGrid="0" snapToObjects="1">
      <p:cViewPr varScale="1">
        <p:scale>
          <a:sx d="100" n="132"/>
          <a:sy d="100" n="132"/>
        </p:scale>
        <p:origin x="126" y="264"/>
      </p:cViewPr>
      <p:guideLst>
        <p:guide orient="horz" pos="1620"/>
        <p:guide pos="2880"/>
      </p:guideLst>
    </p:cSldViewPr>
  </p:slideViewPr>
  <p:outlineViewPr>
    <p:cViewPr>
      <p:scale>
        <a:sx d="100" n="33"/>
        <a:sy d="100" n="33"/>
      </p:scale>
      <p:origin x="0" y="0"/>
    </p:cViewPr>
  </p:outlineViewPr>
  <p:notesTextViewPr>
    <p:cViewPr>
      <p:scale>
        <a:sx d="100" n="100"/>
        <a:sy d="100" n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4" Type="http://schemas.openxmlformats.org/officeDocument/2006/relationships/slide" Target="slides/slide3.xml" /><Relationship Id="rId5" Type="http://schemas.openxmlformats.org/officeDocument/2006/relationships/slide" Target="slides/slide4.xml" /><Relationship Id="rId6" Type="http://schemas.openxmlformats.org/officeDocument/2006/relationships/slide" Target="slides/slide5.xml" /><Relationship Id="rId7" Type="http://schemas.openxmlformats.org/officeDocument/2006/relationships/slide" Target="slides/slide6.xml" /><Relationship Id="rId8" Type="http://schemas.openxmlformats.org/officeDocument/2006/relationships/slide" Target="slides/slide7.xml" /><Relationship Id="rId9" Type="http://schemas.openxmlformats.org/officeDocument/2006/relationships/slide" Target="slides/slide8.xml" /><Relationship Id="rId10" Type="http://schemas.openxmlformats.org/officeDocument/2006/relationships/slide" Target="slides/slide9.xml" /><Relationship Id="rId11" Type="http://schemas.openxmlformats.org/officeDocument/2006/relationships/slide" Target="slides/slide10.xml" /><Relationship Id="rId12" Type="http://schemas.openxmlformats.org/officeDocument/2006/relationships/slide" Target="slides/slide11.xml" /><Relationship Id="rId13" Type="http://schemas.openxmlformats.org/officeDocument/2006/relationships/slide" Target="slides/slide12.xml" /><Relationship Id="rId14" Type="http://schemas.openxmlformats.org/officeDocument/2006/relationships/slide" Target="slides/slide13.xml" /><Relationship Id="rId15" Type="http://schemas.openxmlformats.org/officeDocument/2006/relationships/slide" Target="slides/slide14.xml" /><Relationship Id="rId16" Type="http://schemas.openxmlformats.org/officeDocument/2006/relationships/slide" Target="slides/slide15.xml" /><Relationship Id="rId17" Type="http://schemas.openxmlformats.org/officeDocument/2006/relationships/slide" Target="slides/slide16.xml" /><Relationship Id="rId18" Type="http://schemas.openxmlformats.org/officeDocument/2006/relationships/slide" Target="slides/slide17.xml" /><Relationship Id="rId19" Type="http://schemas.openxmlformats.org/officeDocument/2006/relationships/slide" Target="slides/slide18.xml" /><Relationship Id="rId20" Type="http://schemas.openxmlformats.org/officeDocument/2006/relationships/slide" Target="slides/slide19.xml" /><Relationship Id="rId21" Type="http://schemas.openxmlformats.org/officeDocument/2006/relationships/notesMaster" Target="notesMasters/notesMaster1.xml" /><Relationship Id="rId25" Type="http://schemas.openxmlformats.org/officeDocument/2006/relationships/tableStyles" Target="tableStyles.xml" /><Relationship Id="rId1" Type="http://schemas.openxmlformats.org/officeDocument/2006/relationships/slideMaster" Target="slideMasters/slideMaster1.xml" /><Relationship Id="rId24" Type="http://schemas.openxmlformats.org/officeDocument/2006/relationships/theme" Target="theme/theme1.xml" /><Relationship Id="rId23" Type="http://schemas.openxmlformats.org/officeDocument/2006/relationships/viewProps" Target="viewProps.xml" /><Relationship Id="rId22" Type="http://schemas.openxmlformats.org/officeDocument/2006/relationships/presProps" Target="presProps.xml" 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9C1CCF-B725-44A7-AA57-5E433BD85C9F}" type="datetimeFigureOut">
              <a:rPr lang="en-US" smtClean="0"/>
              <a:t>5/23/2026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8BDFEC3-8487-43E8-A154-7C12CBC1FFF2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270977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?><Relationships xmlns="http://schemas.openxmlformats.org/package/2006/relationships"><Relationship Id="rId2" Type="http://schemas.openxmlformats.org/officeDocument/2006/relationships/slide" Target="../slides/slide4.xml" /><Relationship Id="rId1" Type="http://schemas.openxmlformats.org/officeDocument/2006/relationships/notesMaster" Target="../notesMasters/notesMaster1.xml" /></Relationships>
</file>

<file path=ppt/notesSlides/_rels/notesSlide2.xml.rels><?xml version="1.0" encoding="UTF-8"?><Relationships xmlns="http://schemas.openxmlformats.org/package/2006/relationships"><Relationship Id="rId2" Type="http://schemas.openxmlformats.org/officeDocument/2006/relationships/slide" Target="../slides/slide15.xml" /><Relationship Id="rId1" Type="http://schemas.openxmlformats.org/officeDocument/2006/relationships/notesMaster" Target="../notesMasters/notesMaster1.xml" /></Relationships>
</file>

<file path=ppt/notesSlides/_rels/notesSlide3.xml.rels><?xml version="1.0" encoding="UTF-8"?><Relationships xmlns="http://schemas.openxmlformats.org/package/2006/relationships"><Relationship Id="rId2" Type="http://schemas.openxmlformats.org/officeDocument/2006/relationships/slide" Target="../slides/slide19.xml" /><Relationship Id="rId1" Type="http://schemas.openxmlformats.org/officeDocument/2006/relationships/notesMaster" Target="../notesMasters/notesMaster1.xml" 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Quellen: McKinsey State of AI 2025, Stanford AI Index 2025, BCG 2024. Konkrete Zahl zur Adoption-Tiefe (1× pro Woche, 1× pro Tag, in Kernprozesse) im Anhang.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4</a:t>
            </a:fld>
            <a:endParaRPr lang="en-US"/>
          </a:p>
        </p:txBody>
      </p:sp>
    </p:spTree>
  </p:cSld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Detail-Timeline siehe Greenberg-Traurig 2025 Compliance-Guide. Übergang: “Bevor wir zur Roadmap kommen, kurz zu den Kontrollen…”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15</a:t>
            </a:fld>
            <a:endParaRPr lang="en-US"/>
          </a:p>
        </p:txBody>
      </p:sp>
    </p:spTree>
  </p:cSld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Letzte Folie — Schlussbotschaft für die Diskussion: “Wenn wir in 12 Monaten zurückblicken, woran erkennen wir, dass dieses Programm erfolgreich war?”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19</a:t>
            </a:fld>
            <a:endParaRPr lang="en-US"/>
          </a:p>
        </p:txBody>
      </p:sp>
    </p:spTree>
  </p:cSld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elfolie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436346" y="1341340"/>
            <a:ext cx="6270922" cy="1573670"/>
          </a:xfrm>
        </p:spPr>
        <p:txBody>
          <a:bodyPr anchor="b">
            <a:noAutofit/>
          </a:bodyPr>
          <a:lstStyle>
            <a:lvl1pPr algn="ctr">
              <a:defRPr sz="5400" cap="all" baseline="0">
                <a:solidFill>
                  <a:schemeClr val="tx2"/>
                </a:solidFill>
              </a:defRPr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009930" y="2967210"/>
            <a:ext cx="5123755" cy="814678"/>
          </a:xfrm>
        </p:spPr>
        <p:txBody>
          <a:bodyPr>
            <a:normAutofit/>
          </a:bodyPr>
          <a:lstStyle>
            <a:lvl1pPr marL="0" indent="0"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1725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de-DE"/>
              <a:t>Master-Untertitelformat bearbeiten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564644" y="4840039"/>
            <a:ext cx="1205958" cy="303461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</a:lstStyle>
          <a:p>
            <a:r>
              <a:rPr lang="de-DE"/>
              <a:t>21.05.2026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938041" y="4840039"/>
            <a:ext cx="5267533" cy="303461"/>
          </a:xfrm>
        </p:spPr>
        <p:txBody>
          <a:bodyPr/>
          <a:lstStyle>
            <a:lvl1pPr algn="ctr">
              <a:defRPr baseline="0"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373012" y="4840039"/>
            <a:ext cx="1197219" cy="303461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</a:lstStyle>
          <a:p>
            <a:fld id="{C5EF2332-01BF-834F-8236-50238282D533}" type="slidenum">
              <a:rPr lang="en-US" smtClean="0"/>
              <a:t>‹Nr.›</a:t>
            </a:fld>
            <a:endParaRPr lang="en-US"/>
          </a:p>
        </p:txBody>
      </p:sp>
      <p:grpSp>
        <p:nvGrpSpPr>
          <p:cNvPr id="7" name="Group 6"/>
          <p:cNvGrpSpPr/>
          <p:nvPr/>
        </p:nvGrpSpPr>
        <p:grpSpPr>
          <a:xfrm>
            <a:off x="564644" y="558352"/>
            <a:ext cx="8005588" cy="4012253"/>
            <a:chOff x="752858" y="744469"/>
            <a:chExt cx="10674117" cy="5349671"/>
          </a:xfrm>
        </p:grpSpPr>
        <p:sp>
          <p:nvSpPr>
            <p:cNvPr id="11" name="Freeform 6"/>
            <p:cNvSpPr/>
            <p:nvPr/>
          </p:nvSpPr>
          <p:spPr bwMode="auto">
            <a:xfrm>
              <a:off x="8151962" y="1685652"/>
              <a:ext cx="3275013" cy="4408488"/>
            </a:xfrm>
            <a:custGeom>
              <a:avLst/>
              <a:gdLst/>
              <a:ahLst/>
              <a:cxnLst/>
              <a:rect l="l" t="t" r="r" b="b"/>
              <a:pathLst>
                <a:path w="10000" h="10000">
                  <a:moveTo>
                    <a:pt x="8761" y="0"/>
                  </a:moveTo>
                  <a:lnTo>
                    <a:pt x="10000" y="0"/>
                  </a:lnTo>
                  <a:lnTo>
                    <a:pt x="10000" y="10000"/>
                  </a:lnTo>
                  <a:lnTo>
                    <a:pt x="0" y="10000"/>
                  </a:lnTo>
                  <a:lnTo>
                    <a:pt x="0" y="9126"/>
                  </a:lnTo>
                  <a:lnTo>
                    <a:pt x="8761" y="9127"/>
                  </a:lnTo>
                  <a:lnTo>
                    <a:pt x="8761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</p:sp>
        <p:sp>
          <p:nvSpPr>
            <p:cNvPr id="14" name="Freeform 6"/>
            <p:cNvSpPr/>
            <p:nvPr/>
          </p:nvSpPr>
          <p:spPr bwMode="auto">
            <a:xfrm flipH="1" flipV="1">
              <a:off x="752858" y="744469"/>
              <a:ext cx="3275668" cy="4408488"/>
            </a:xfrm>
            <a:custGeom>
              <a:avLst/>
              <a:gdLst/>
              <a:ahLst/>
              <a:cxnLst/>
              <a:rect l="l" t="t" r="r" b="b"/>
              <a:pathLst>
                <a:path w="10002" h="10000">
                  <a:moveTo>
                    <a:pt x="8763" y="0"/>
                  </a:moveTo>
                  <a:lnTo>
                    <a:pt x="10002" y="0"/>
                  </a:lnTo>
                  <a:lnTo>
                    <a:pt x="10002" y="10000"/>
                  </a:lnTo>
                  <a:lnTo>
                    <a:pt x="2" y="10000"/>
                  </a:lnTo>
                  <a:cubicBezTo>
                    <a:pt x="-2" y="9698"/>
                    <a:pt x="4" y="9427"/>
                    <a:pt x="0" y="9125"/>
                  </a:cubicBezTo>
                  <a:lnTo>
                    <a:pt x="8763" y="9128"/>
                  </a:lnTo>
                  <a:lnTo>
                    <a:pt x="8763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</p:sp>
      </p:grpSp>
    </p:spTree>
    <p:extLst>
      <p:ext uri="{BB962C8B-B14F-4D97-AF65-F5344CB8AC3E}">
        <p14:creationId xmlns:p14="http://schemas.microsoft.com/office/powerpoint/2010/main" val="159775421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21.05.2026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940113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Abschnitts-&#10;überschrift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73769" y="976020"/>
            <a:ext cx="7209728" cy="2139553"/>
          </a:xfrm>
        </p:spPr>
        <p:txBody>
          <a:bodyPr anchor="b">
            <a:normAutofit/>
          </a:bodyPr>
          <a:lstStyle>
            <a:lvl1pPr algn="r">
              <a:defRPr sz="5400" cap="all" baseline="0">
                <a:solidFill>
                  <a:schemeClr val="tx2"/>
                </a:solidFill>
              </a:defRPr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73769" y="3162246"/>
            <a:ext cx="7209728" cy="857493"/>
          </a:xfrm>
        </p:spPr>
        <p:txBody>
          <a:bodyPr/>
          <a:lstStyle>
            <a:lvl1pPr marL="0" indent="0"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tx2"/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554181" y="4840039"/>
            <a:ext cx="1216807" cy="303461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de-DE"/>
              <a:t>21.05.2026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938234" y="4840039"/>
            <a:ext cx="5267533" cy="303461"/>
          </a:xfrm>
        </p:spPr>
        <p:txBody>
          <a:bodyPr/>
          <a:lstStyle>
            <a:lvl1pPr algn="ctr">
              <a:defRPr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373012" y="4840039"/>
            <a:ext cx="1197219" cy="303461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C5EF2332-01BF-834F-8236-50238282D533}" type="slidenum">
              <a:rPr lang="en-US" smtClean="0"/>
              <a:t>‹Nr.›</a:t>
            </a:fld>
            <a:endParaRPr lang="en-US"/>
          </a:p>
        </p:txBody>
      </p:sp>
      <p:sp>
        <p:nvSpPr>
          <p:cNvPr id="7" name="Freeform 6" title="Crop Mark"/>
          <p:cNvSpPr/>
          <p:nvPr/>
        </p:nvSpPr>
        <p:spPr bwMode="auto">
          <a:xfrm>
            <a:off x="6113972" y="1264239"/>
            <a:ext cx="2456260" cy="3306366"/>
          </a:xfrm>
          <a:custGeom>
            <a:avLst/>
            <a:gdLst/>
            <a:ahLst/>
            <a:cxnLst/>
            <a:rect l="0" t="0" r="r" b="b"/>
            <a:pathLst>
              <a:path w="4125" h="5554">
                <a:moveTo>
                  <a:pt x="3614" y="0"/>
                </a:moveTo>
                <a:lnTo>
                  <a:pt x="4125" y="0"/>
                </a:lnTo>
                <a:lnTo>
                  <a:pt x="4125" y="5554"/>
                </a:lnTo>
                <a:lnTo>
                  <a:pt x="0" y="5554"/>
                </a:lnTo>
                <a:lnTo>
                  <a:pt x="0" y="5074"/>
                </a:lnTo>
                <a:lnTo>
                  <a:pt x="3614" y="5074"/>
                </a:lnTo>
                <a:lnTo>
                  <a:pt x="3614" y="0"/>
                </a:lnTo>
                <a:close/>
              </a:path>
            </a:pathLst>
          </a:custGeom>
          <a:solidFill>
            <a:schemeClr val="tx2"/>
          </a:solidFill>
          <a:ln w="0">
            <a:noFill/>
            <a:prstDash val="solid"/>
            <a:round/>
            <a:headEnd/>
            <a:tailEnd/>
          </a:ln>
        </p:spPr>
      </p:sp>
    </p:spTree>
    <p:extLst>
      <p:ext uri="{BB962C8B-B14F-4D97-AF65-F5344CB8AC3E}">
        <p14:creationId xmlns:p14="http://schemas.microsoft.com/office/powerpoint/2010/main" val="282855687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28700" y="1714500"/>
            <a:ext cx="3335840" cy="2686051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  <a:lvl2pPr>
              <a:defRPr baseline="0">
                <a:solidFill>
                  <a:schemeClr val="tx2"/>
                </a:solidFill>
              </a:defRPr>
            </a:lvl2pPr>
            <a:lvl3pPr>
              <a:defRPr baseline="0">
                <a:solidFill>
                  <a:schemeClr val="tx2"/>
                </a:solidFill>
              </a:defRPr>
            </a:lvl3pPr>
            <a:lvl4pPr>
              <a:defRPr baseline="0">
                <a:solidFill>
                  <a:schemeClr val="tx2"/>
                </a:solidFill>
              </a:defRPr>
            </a:lvl4pPr>
            <a:lvl5pPr>
              <a:defRPr baseline="0">
                <a:solidFill>
                  <a:schemeClr val="tx2"/>
                </a:solidFill>
              </a:defRPr>
            </a:lvl5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894052" y="1714500"/>
            <a:ext cx="3335840" cy="2686051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21.05.2026</a:t>
            </a:r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704375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8700" y="514350"/>
            <a:ext cx="7200900" cy="1114425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28700" y="1755648"/>
            <a:ext cx="3332988" cy="617934"/>
          </a:xfrm>
        </p:spPr>
        <p:txBody>
          <a:bodyPr anchor="b">
            <a:noAutofit/>
          </a:bodyPr>
          <a:lstStyle>
            <a:lvl1pPr marL="0" indent="0">
              <a:lnSpc>
                <a:spcPct val="84000"/>
              </a:lnSpc>
              <a:spcBef>
                <a:spcPts val="0"/>
              </a:spcBef>
              <a:spcAft>
                <a:spcPts val="0"/>
              </a:spcAft>
              <a:buNone/>
              <a:defRPr sz="2250" b="0" baseline="0">
                <a:solidFill>
                  <a:schemeClr val="tx2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28700" y="2478906"/>
            <a:ext cx="3332988" cy="1921645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  <a:lvl2pPr>
              <a:defRPr baseline="0">
                <a:solidFill>
                  <a:schemeClr val="tx2"/>
                </a:solidFill>
              </a:defRPr>
            </a:lvl2pPr>
            <a:lvl3pPr>
              <a:defRPr baseline="0">
                <a:solidFill>
                  <a:schemeClr val="tx2"/>
                </a:solidFill>
              </a:defRPr>
            </a:lvl3pPr>
            <a:lvl4pPr>
              <a:defRPr baseline="0">
                <a:solidFill>
                  <a:schemeClr val="tx2"/>
                </a:solidFill>
              </a:defRPr>
            </a:lvl4pPr>
            <a:lvl5pPr>
              <a:defRPr baseline="0">
                <a:solidFill>
                  <a:schemeClr val="tx2"/>
                </a:solidFill>
              </a:defRPr>
            </a:lvl5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893761" y="1755648"/>
            <a:ext cx="3332988" cy="617934"/>
          </a:xfrm>
        </p:spPr>
        <p:txBody>
          <a:bodyPr anchor="b">
            <a:noAutofit/>
          </a:bodyPr>
          <a:lstStyle>
            <a:lvl1pPr marL="0" indent="0">
              <a:lnSpc>
                <a:spcPct val="84000"/>
              </a:lnSpc>
              <a:spcBef>
                <a:spcPts val="0"/>
              </a:spcBef>
              <a:spcAft>
                <a:spcPts val="0"/>
              </a:spcAft>
              <a:buNone/>
              <a:defRPr sz="2250" b="0" baseline="0">
                <a:solidFill>
                  <a:schemeClr val="tx2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893761" y="2478906"/>
            <a:ext cx="3332988" cy="1921645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  <a:lvl2pPr>
              <a:defRPr baseline="0">
                <a:solidFill>
                  <a:schemeClr val="tx2"/>
                </a:solidFill>
              </a:defRPr>
            </a:lvl2pPr>
            <a:lvl3pPr>
              <a:defRPr baseline="0">
                <a:solidFill>
                  <a:schemeClr val="tx2"/>
                </a:solidFill>
              </a:defRPr>
            </a:lvl3pPr>
            <a:lvl4pPr>
              <a:defRPr baseline="0">
                <a:solidFill>
                  <a:schemeClr val="tx2"/>
                </a:solidFill>
              </a:defRPr>
            </a:lvl4pPr>
            <a:lvl5pPr>
              <a:defRPr baseline="0">
                <a:solidFill>
                  <a:schemeClr val="tx2"/>
                </a:solidFill>
              </a:defRPr>
            </a:lvl5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21.05.2026</a:t>
            </a:r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7845156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21.05.2026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7799716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21.05.2026</a:t>
            </a:r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775990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 title="Background Shape"/>
          <p:cNvSpPr/>
          <p:nvPr/>
        </p:nvSpPr>
        <p:spPr>
          <a:xfrm>
            <a:off x="0" y="282"/>
            <a:ext cx="3977640" cy="514321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2925" y="514350"/>
            <a:ext cx="2891790" cy="1618413"/>
          </a:xfrm>
        </p:spPr>
        <p:txBody>
          <a:bodyPr anchor="t">
            <a:noAutofit/>
          </a:bodyPr>
          <a:lstStyle>
            <a:lvl1pPr>
              <a:lnSpc>
                <a:spcPct val="84000"/>
              </a:lnSpc>
              <a:defRPr sz="3600" baseline="0">
                <a:solidFill>
                  <a:schemeClr val="tx2"/>
                </a:solidFill>
              </a:defRPr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692015" y="514351"/>
            <a:ext cx="3909060" cy="3881438"/>
          </a:xfrm>
        </p:spPr>
        <p:txBody>
          <a:bodyPr/>
          <a:lstStyle>
            <a:lvl1pPr>
              <a:defRPr sz="1500"/>
            </a:lvl1pPr>
            <a:lvl2pPr>
              <a:defRPr sz="1500"/>
            </a:lvl2pPr>
            <a:lvl3pPr>
              <a:defRPr sz="1350"/>
            </a:lvl3pPr>
            <a:lvl4pPr>
              <a:defRPr sz="135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42925" y="2142258"/>
            <a:ext cx="2891790" cy="2258292"/>
          </a:xfrm>
        </p:spPr>
        <p:txBody>
          <a:bodyPr/>
          <a:lstStyle>
            <a:lvl1pPr marL="0" indent="0">
              <a:lnSpc>
                <a:spcPct val="113000"/>
              </a:lnSpc>
              <a:spcBef>
                <a:spcPts val="0"/>
              </a:spcBef>
              <a:spcAft>
                <a:spcPts val="1125"/>
              </a:spcAft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542925" y="4840039"/>
            <a:ext cx="903429" cy="303461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de-DE"/>
              <a:t>21.05.2026</a:t>
            </a:r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654459" y="4840039"/>
            <a:ext cx="1780256" cy="303461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7412355" y="4840039"/>
            <a:ext cx="1197219" cy="303461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C5EF2332-01BF-834F-8236-50238282D533}" type="slidenum">
              <a:rPr lang="en-US" smtClean="0"/>
              <a:t>‹Nr.›</a:t>
            </a:fld>
            <a:endParaRPr lang="en-US"/>
          </a:p>
        </p:txBody>
      </p:sp>
      <p:sp>
        <p:nvSpPr>
          <p:cNvPr id="9" name="Rectangle 8" title="Divider Bar"/>
          <p:cNvSpPr/>
          <p:nvPr/>
        </p:nvSpPr>
        <p:spPr>
          <a:xfrm>
            <a:off x="3977640" y="282"/>
            <a:ext cx="171450" cy="51435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67063768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 title="Background Shape"/>
          <p:cNvSpPr/>
          <p:nvPr/>
        </p:nvSpPr>
        <p:spPr>
          <a:xfrm>
            <a:off x="0" y="282"/>
            <a:ext cx="3977640" cy="514321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2925" y="514350"/>
            <a:ext cx="2891790" cy="1618413"/>
          </a:xfrm>
        </p:spPr>
        <p:txBody>
          <a:bodyPr anchor="t">
            <a:normAutofit/>
          </a:bodyPr>
          <a:lstStyle>
            <a:lvl1pPr>
              <a:lnSpc>
                <a:spcPct val="84000"/>
              </a:lnSpc>
              <a:defRPr sz="3600" baseline="0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149090" y="1"/>
            <a:ext cx="4994910" cy="5143499"/>
          </a:xfrm>
        </p:spPr>
        <p:txBody>
          <a:bodyPr anchor="t">
            <a:normAutofit/>
          </a:bodyPr>
          <a:lstStyle>
            <a:lvl1pPr marL="0" indent="0">
              <a:buNone/>
              <a:defRPr sz="1500"/>
            </a:lvl1pPr>
            <a:lvl2pPr marL="342900" indent="0">
              <a:buNone/>
              <a:defRPr sz="1500"/>
            </a:lvl2pPr>
            <a:lvl3pPr marL="685800" indent="0">
              <a:buNone/>
              <a:defRPr sz="15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de-DE"/>
              <a:t>Bild durch Klicken auf Symbol hinzufügen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42925" y="2141976"/>
            <a:ext cx="2891790" cy="2258574"/>
          </a:xfrm>
        </p:spPr>
        <p:txBody>
          <a:bodyPr/>
          <a:lstStyle>
            <a:lvl1pPr marL="0" indent="0">
              <a:lnSpc>
                <a:spcPct val="113000"/>
              </a:lnSpc>
              <a:spcBef>
                <a:spcPts val="0"/>
              </a:spcBef>
              <a:spcAft>
                <a:spcPts val="1125"/>
              </a:spcAft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542925" y="4840039"/>
            <a:ext cx="903429" cy="303461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de-DE"/>
              <a:t>21.05.2026</a:t>
            </a:r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654459" y="4840039"/>
            <a:ext cx="1780256" cy="303461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7412355" y="4840039"/>
            <a:ext cx="1197219" cy="303461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C5EF2332-01BF-834F-8236-50238282D533}" type="slidenum">
              <a:rPr lang="en-US" smtClean="0"/>
              <a:t>‹Nr.›</a:t>
            </a:fld>
            <a:endParaRPr lang="en-US"/>
          </a:p>
        </p:txBody>
      </p:sp>
      <p:sp>
        <p:nvSpPr>
          <p:cNvPr id="9" name="Rectangle 8" title="Divider Bar"/>
          <p:cNvSpPr/>
          <p:nvPr/>
        </p:nvSpPr>
        <p:spPr>
          <a:xfrm>
            <a:off x="3977640" y="282"/>
            <a:ext cx="171450" cy="51435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151985771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028700" y="1721644"/>
            <a:ext cx="7200900" cy="2678906"/>
          </a:xfrm>
        </p:spPr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21.05.2026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789050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197421" y="468117"/>
            <a:ext cx="1174325" cy="3932433"/>
          </a:xfrm>
        </p:spPr>
        <p:txBody>
          <a:bodyPr vert="eaVert"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028700" y="468117"/>
            <a:ext cx="6134731" cy="3932433"/>
          </a:xfrm>
        </p:spPr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21.05.2026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9521035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theme/theme1.xml" Type="http://schemas.openxmlformats.org/officeDocument/2006/relationships/theme" /><Relationship Id="rId2" Target="../slideLayouts/slideLayout2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0" Target="../slideLayouts/slideLayout10.xml" Type="http://schemas.openxmlformats.org/officeDocument/2006/relationships/slideLayout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28700" y="514350"/>
            <a:ext cx="7200900" cy="1114425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28700" y="1714500"/>
            <a:ext cx="7200900" cy="268605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42987" y="4840039"/>
            <a:ext cx="903429" cy="30346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 baseline="0">
                <a:solidFill>
                  <a:schemeClr val="tx2"/>
                </a:solidFill>
              </a:defRPr>
            </a:lvl1pPr>
          </a:lstStyle>
          <a:p>
            <a:r>
              <a:rPr lang="de-DE"/>
              <a:t>21.05.2026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170173" y="4840039"/>
            <a:ext cx="4710623" cy="30346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 baseline="0"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104552" y="4840039"/>
            <a:ext cx="1197219" cy="30346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 baseline="0">
                <a:solidFill>
                  <a:schemeClr val="tx2"/>
                </a:solidFill>
              </a:defRPr>
            </a:lvl1pPr>
          </a:lstStyle>
          <a:p>
            <a:fld id="{C5EF2332-01BF-834F-8236-50238282D533}" type="slidenum">
              <a:rPr lang="en-US" smtClean="0"/>
              <a:t>‹Nr.›</a:t>
            </a:fld>
            <a:endParaRPr lang="en-US"/>
          </a:p>
        </p:txBody>
      </p:sp>
      <p:sp>
        <p:nvSpPr>
          <p:cNvPr id="9" name="Rectangle 8" title="Side bar"/>
          <p:cNvSpPr/>
          <p:nvPr/>
        </p:nvSpPr>
        <p:spPr>
          <a:xfrm>
            <a:off x="358571" y="282"/>
            <a:ext cx="171450" cy="51435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117992425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7" r:id="rId1"/>
    <p:sldLayoutId id="2147483728" r:id="rId2"/>
    <p:sldLayoutId id="2147483729" r:id="rId3"/>
    <p:sldLayoutId id="2147483730" r:id="rId4"/>
    <p:sldLayoutId id="2147483731" r:id="rId5"/>
    <p:sldLayoutId id="2147483732" r:id="rId6"/>
    <p:sldLayoutId id="2147483733" r:id="rId7"/>
    <p:sldLayoutId id="2147483734" r:id="rId8"/>
    <p:sldLayoutId id="2147483735" r:id="rId9"/>
    <p:sldLayoutId id="2147483736" r:id="rId10"/>
    <p:sldLayoutId id="2147483737" r:id="rId11"/>
  </p:sldLayoutIdLst>
  <p:txStyles>
    <p:titleStyle>
      <a:lvl1pPr algn="l" defTabSz="685800" rtl="0" eaLnBrk="1" latinLnBrk="0" hangingPunct="1">
        <a:lnSpc>
          <a:spcPct val="89000"/>
        </a:lnSpc>
        <a:spcBef>
          <a:spcPct val="0"/>
        </a:spcBef>
        <a:buNone/>
        <a:defRPr sz="3300" kern="1200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288036" indent="-288036" algn="l" defTabSz="685800" rtl="0" eaLnBrk="1" latinLnBrk="0" hangingPunct="1">
        <a:lnSpc>
          <a:spcPct val="94000"/>
        </a:lnSpc>
        <a:spcBef>
          <a:spcPts val="750"/>
        </a:spcBef>
        <a:spcAft>
          <a:spcPts val="150"/>
        </a:spcAft>
        <a:buFont typeface="Franklin Gothic Book" panose="020B0503020102020204" pitchFamily="34" charset="0"/>
        <a:buChar char="■"/>
        <a:defRPr sz="1500" kern="1200" baseline="0">
          <a:solidFill>
            <a:schemeClr val="tx2"/>
          </a:solidFill>
          <a:latin typeface="+mn-lt"/>
          <a:ea typeface="+mn-ea"/>
          <a:cs typeface="+mn-cs"/>
        </a:defRPr>
      </a:lvl1pPr>
      <a:lvl2pPr marL="685800" indent="-288036" algn="l" defTabSz="685800" rtl="0" eaLnBrk="1" latinLnBrk="0" hangingPunct="1">
        <a:lnSpc>
          <a:spcPct val="94000"/>
        </a:lnSpc>
        <a:spcBef>
          <a:spcPts val="375"/>
        </a:spcBef>
        <a:spcAft>
          <a:spcPts val="150"/>
        </a:spcAft>
        <a:buFont typeface="Franklin Gothic Book" panose="020B0503020102020204" pitchFamily="34" charset="0"/>
        <a:buChar char="–"/>
        <a:defRPr sz="1500" i="1" kern="1200" baseline="0">
          <a:solidFill>
            <a:schemeClr val="tx2"/>
          </a:solidFill>
          <a:latin typeface="+mn-lt"/>
          <a:ea typeface="+mn-ea"/>
          <a:cs typeface="+mn-cs"/>
        </a:defRPr>
      </a:lvl2pPr>
      <a:lvl3pPr marL="1028700" indent="-288036" algn="l" defTabSz="685800" rtl="0" eaLnBrk="1" latinLnBrk="0" hangingPunct="1">
        <a:lnSpc>
          <a:spcPct val="94000"/>
        </a:lnSpc>
        <a:spcBef>
          <a:spcPts val="375"/>
        </a:spcBef>
        <a:spcAft>
          <a:spcPts val="150"/>
        </a:spcAft>
        <a:buFont typeface="Franklin Gothic Book" panose="020B0503020102020204" pitchFamily="34" charset="0"/>
        <a:buChar char="■"/>
        <a:defRPr sz="1350" kern="1200" baseline="0">
          <a:solidFill>
            <a:schemeClr val="tx2"/>
          </a:solidFill>
          <a:latin typeface="+mn-lt"/>
          <a:ea typeface="+mn-ea"/>
          <a:cs typeface="+mn-cs"/>
        </a:defRPr>
      </a:lvl3pPr>
      <a:lvl4pPr marL="1371600" indent="-288036" algn="l" defTabSz="685800" rtl="0" eaLnBrk="1" latinLnBrk="0" hangingPunct="1">
        <a:lnSpc>
          <a:spcPct val="94000"/>
        </a:lnSpc>
        <a:spcBef>
          <a:spcPts val="375"/>
        </a:spcBef>
        <a:spcAft>
          <a:spcPts val="150"/>
        </a:spcAft>
        <a:buFont typeface="Franklin Gothic Book" panose="020B0503020102020204" pitchFamily="34" charset="0"/>
        <a:buChar char="–"/>
        <a:defRPr sz="1350" i="1" kern="1200" baseline="0">
          <a:solidFill>
            <a:schemeClr val="tx2"/>
          </a:solidFill>
          <a:latin typeface="+mn-lt"/>
          <a:ea typeface="+mn-ea"/>
          <a:cs typeface="+mn-cs"/>
        </a:defRPr>
      </a:lvl4pPr>
      <a:lvl5pPr marL="1714500" indent="-288036" algn="l" defTabSz="685800" rtl="0" eaLnBrk="1" latinLnBrk="0" hangingPunct="1">
        <a:lnSpc>
          <a:spcPct val="94000"/>
        </a:lnSpc>
        <a:spcBef>
          <a:spcPts val="375"/>
        </a:spcBef>
        <a:spcAft>
          <a:spcPts val="150"/>
        </a:spcAft>
        <a:buFont typeface="Franklin Gothic Book" panose="020B0503020102020204" pitchFamily="34" charset="0"/>
        <a:buChar char="■"/>
        <a:defRPr sz="1200" kern="1200" baseline="0">
          <a:solidFill>
            <a:schemeClr val="tx2"/>
          </a:solidFill>
          <a:latin typeface="+mn-lt"/>
          <a:ea typeface="+mn-ea"/>
          <a:cs typeface="+mn-cs"/>
        </a:defRPr>
      </a:lvl5pPr>
      <a:lvl6pPr marL="2057400" indent="-288036" algn="l" defTabSz="685800" rtl="0" eaLnBrk="1" latinLnBrk="0" hangingPunct="1">
        <a:lnSpc>
          <a:spcPct val="94000"/>
        </a:lnSpc>
        <a:spcBef>
          <a:spcPts val="375"/>
        </a:spcBef>
        <a:spcAft>
          <a:spcPts val="150"/>
        </a:spcAft>
        <a:buFont typeface="Franklin Gothic Book" panose="020B0503020102020204" pitchFamily="34" charset="0"/>
        <a:buChar char="–"/>
        <a:defRPr sz="1200" i="1" kern="1200" baseline="0">
          <a:solidFill>
            <a:schemeClr val="tx2"/>
          </a:solidFill>
          <a:latin typeface="+mn-lt"/>
          <a:ea typeface="+mn-ea"/>
          <a:cs typeface="+mn-cs"/>
        </a:defRPr>
      </a:lvl6pPr>
      <a:lvl7pPr marL="2400300" indent="-288036" algn="l" defTabSz="685800" rtl="0" eaLnBrk="1" latinLnBrk="0" hangingPunct="1">
        <a:lnSpc>
          <a:spcPct val="94000"/>
        </a:lnSpc>
        <a:spcBef>
          <a:spcPts val="375"/>
        </a:spcBef>
        <a:spcAft>
          <a:spcPts val="150"/>
        </a:spcAft>
        <a:buFont typeface="Franklin Gothic Book" panose="020B0503020102020204" pitchFamily="34" charset="0"/>
        <a:buChar char="■"/>
        <a:defRPr sz="1050" kern="1200" baseline="0">
          <a:solidFill>
            <a:schemeClr val="tx2"/>
          </a:solidFill>
          <a:latin typeface="+mn-lt"/>
          <a:ea typeface="+mn-ea"/>
          <a:cs typeface="+mn-cs"/>
        </a:defRPr>
      </a:lvl7pPr>
      <a:lvl8pPr marL="2743200" indent="-288036" algn="l" defTabSz="685800" rtl="0" eaLnBrk="1" latinLnBrk="0" hangingPunct="1">
        <a:lnSpc>
          <a:spcPct val="94000"/>
        </a:lnSpc>
        <a:spcBef>
          <a:spcPts val="375"/>
        </a:spcBef>
        <a:spcAft>
          <a:spcPts val="150"/>
        </a:spcAft>
        <a:buFont typeface="Franklin Gothic Book" panose="020B0503020102020204" pitchFamily="34" charset="0"/>
        <a:buChar char="–"/>
        <a:defRPr sz="1050" i="1" kern="1200" baseline="0">
          <a:solidFill>
            <a:schemeClr val="tx2"/>
          </a:solidFill>
          <a:latin typeface="+mn-lt"/>
          <a:ea typeface="+mn-ea"/>
          <a:cs typeface="+mn-cs"/>
        </a:defRPr>
      </a:lvl8pPr>
      <a:lvl9pPr marL="3086100" indent="-288036" algn="l" defTabSz="685800" rtl="0" eaLnBrk="1" latinLnBrk="0" hangingPunct="1">
        <a:lnSpc>
          <a:spcPct val="94000"/>
        </a:lnSpc>
        <a:spcBef>
          <a:spcPts val="375"/>
        </a:spcBef>
        <a:spcAft>
          <a:spcPts val="150"/>
        </a:spcAft>
        <a:buFont typeface="Franklin Gothic Book" panose="020B0503020102020204" pitchFamily="34" charset="0"/>
        <a:buChar char="■"/>
        <a:defRPr sz="1050" kern="1200" baseline="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3" orient="horz" pos="1368">
          <p15:clr>
            <a:srgbClr val="F26B43"/>
          </p15:clr>
        </p15:guide>
        <p15:guide id="4" orient="horz" pos="1440">
          <p15:clr>
            <a:srgbClr val="F26B43"/>
          </p15:clr>
        </p15:guide>
        <p15:guide id="6" orient="horz" pos="3696">
          <p15:clr>
            <a:srgbClr val="F26B43"/>
          </p15:clr>
        </p15:guide>
        <p15:guide id="7" orient="horz" pos="432">
          <p15:clr>
            <a:srgbClr val="F26B43"/>
          </p15:clr>
        </p15:guide>
        <p15:guide id="8" orient="horz" pos="1512">
          <p15:clr>
            <a:srgbClr val="F26B43"/>
          </p15:clr>
        </p15:guide>
        <p15:guide id="9" pos="6912">
          <p15:clr>
            <a:srgbClr val="F26B43"/>
          </p15:clr>
        </p15:guide>
        <p15:guide id="10" pos="936">
          <p15:clr>
            <a:srgbClr val="F26B43"/>
          </p15:clr>
        </p15:guide>
        <p15:guide id="11" pos="864">
          <p15:clr>
            <a:srgbClr val="F26B43"/>
          </p15:clr>
        </p15:guide>
      </p15:sldGuideLst>
    </p:ext>
  </p:extLst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1.xml" 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Relationship Id="rId2" Type="http://schemas.openxmlformats.org/officeDocument/2006/relationships/image" Target="../media/image1.png" 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Relationship Id="rId2" Type="http://schemas.openxmlformats.org/officeDocument/2006/relationships/image" Target="../media/image1.png" /></Relationships>
</file>

<file path=ppt/slides/_rels/slide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1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12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Relationship Id="rId2" Type="http://schemas.openxmlformats.org/officeDocument/2006/relationships/image" Target="../media/image1.png" /></Relationships>
</file>

<file path=ppt/slides/_rels/slide1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1.png" /></Relationships>
</file>

<file path=ppt/slides/_rels/slide14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1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2.xml" /></Relationships>
</file>

<file path=ppt/slides/_rels/slide16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1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3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KI in Unternehmen</a:t>
            </a:r>
          </a:p>
        </p:txBody>
      </p:sp>
      <p:sp>
        <p:nvSpPr>
          <p:cNvPr id="3" name="Subtitle 2"/>
          <p:cNvSpPr>
            <a:spLocks noGrp="1"/>
          </p:cNvSpPr>
          <p:nvPr>
            <p:ph idx="1" type="sub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Strategie, Wert &amp; Umsetzung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10" sz="half" type="dt"/>
          </p:nvPr>
        </p:nvSpPr>
        <p:spPr/>
        <p:txBody>
          <a:bodyPr/>
          <a:lstStyle/>
          <a:p>
            <a:fld id="{AA5AE68C-7E05-4013-BF21-9B93BA55A149}" type="datetime1">
              <a:rPr lang="de-DE" smtClean="0"/>
              <a:t>23. Mai 2026</a:t>
            </a:fld>
          </a:p>
        </p:txBody>
      </p:sp>
      <p:sp>
        <p:nvSpPr>
          <p:cNvPr id="1001" name="Slide Number Placeholder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de-DE"/>
              <a:t>1</a:t>
            </a:fld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Agenda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lvl="0" indent="-342900" marL="342900">
              <a:buAutoNum type="arabicPeriod"/>
            </a:pPr>
            <a:r>
              <a:rPr/>
              <a:t>Marktdynamik</a:t>
            </a:r>
          </a:p>
          <a:p>
            <a:pPr lvl="0" indent="-342900" marL="342900">
              <a:buAutoNum startAt="2" type="arabicPeriod"/>
            </a:pPr>
            <a:r>
              <a:rPr/>
              <a:t>Werthebel</a:t>
            </a:r>
          </a:p>
          <a:p>
            <a:pPr lvl="0" indent="-342900" marL="342900">
              <a:buAutoNum startAt="3" type="arabicPeriod"/>
            </a:pPr>
            <a:r>
              <a:rPr/>
              <a:t>Daten &amp; Plattform</a:t>
            </a:r>
          </a:p>
          <a:p>
            <a:pPr lvl="0" indent="-342900" marL="342900">
              <a:buAutoNum startAt="4" type="arabicPeriod"/>
            </a:pPr>
            <a:r>
              <a:rPr/>
              <a:t>Governance</a:t>
            </a:r>
          </a:p>
          <a:p>
            <a:pPr lvl="0" indent="-342900" marL="342900">
              <a:buAutoNum startAt="5" type="arabicPeriod"/>
            </a:pPr>
            <a:r>
              <a:rPr/>
              <a:t>Roadmap &amp; Fazit</a:t>
            </a:r>
          </a:p>
        </p:txBody>
      </p:sp>
      <p:sp>
        <p:nvSpPr>
          <p:cNvPr id="1001" name="Slide Number Placeholder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de-DE"/>
              <a:t>1</a:t>
            </a:fld>
          </a:p>
        </p:txBody>
      </p:sp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Teil 1: Marktdynamik</a:t>
            </a:r>
          </a:p>
        </p:txBody>
      </p:sp>
      <p:sp>
        <p:nvSpPr>
          <p:cNvPr id="1001" name="Slide Number Placeholder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de-DE"/>
              <a:t>1</a:t>
            </a:fld>
          </a:p>
        </p:txBody>
      </p:sp>
    </p:spTree>
  </p:cSld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Adoption steigt rasant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lvl="0"/>
            <a:r>
              <a:rPr/>
              <a:t>78 % der Unternehmen nutzen GenAI wöchentlich</a:t>
            </a:r>
          </a:p>
          <a:p>
            <a:pPr lvl="0"/>
            <a:r>
              <a:rPr/>
              <a:t>Pilot-zu-Produktion bleibt das Nadelöhr</a:t>
            </a:r>
          </a:p>
          <a:p>
            <a:pPr lvl="0"/>
            <a:r>
              <a:rPr/>
              <a:t>Investitionen verdoppeln sich jedes Jahr</a:t>
            </a:r>
          </a:p>
          <a:p>
            <a:pPr lvl="0"/>
            <a:r>
              <a:rPr/>
              <a:t>Skill-Gap wird zur Engpass-Disziplin</a:t>
            </a:r>
          </a:p>
        </p:txBody>
      </p:sp>
      <p:sp>
        <p:nvSpPr>
          <p:cNvPr id="1001" name="Slide Number Placeholder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de-DE"/>
              <a:t>1</a:t>
            </a:fld>
          </a:p>
        </p:txBody>
      </p:sp>
    </p:spTree>
  </p:cSld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Markttrends 2026 im Bild</a:t>
            </a:r>
          </a:p>
        </p:txBody>
      </p:sp>
      <p:pic>
        <p:nvPicPr>
          <p:cNvPr descr="/tmp/ppthelper_skeleton_placeholder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1028700" y="2118665"/>
            <a:ext cx="3335840" cy="1877721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pPr lvl="0"/>
            <a:r>
              <a:rPr/>
              <a:t>Agentic AI verlässt das Lab</a:t>
            </a:r>
          </a:p>
          <a:p>
            <a:pPr lvl="0"/>
            <a:r>
              <a:rPr/>
              <a:t>Multimodale Modelle werden Standard</a:t>
            </a:r>
          </a:p>
          <a:p>
            <a:pPr lvl="0"/>
            <a:r>
              <a:rPr/>
              <a:t>On-Device-Inferenz für sensible Daten</a:t>
            </a:r>
          </a:p>
          <a:p>
            <a:pPr lvl="0"/>
            <a:r>
              <a:rPr/>
              <a:t>Open-Source-Modelle holen auf</a:t>
            </a:r>
          </a:p>
        </p:txBody>
      </p:sp>
      <p:sp>
        <p:nvSpPr>
          <p:cNvPr id="1001" name="Slide Number Placeholder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de-DE"/>
              <a:t>1</a:t>
            </a:fld>
          </a:p>
        </p:txBody>
      </p:sp>
    </p:spTree>
  </p:cSld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Kernzahlen 2024–2026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1028700" y="1714500"/>
          <a:ext cx="7200900" cy="310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90700"/>
                <a:gridCol w="1790700"/>
                <a:gridCol w="1790700"/>
                <a:gridCol w="17907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Indikator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2024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2025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2026e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KI-Nutzung (wöchentlich)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56 %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71 %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78 %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Skalierte Use Cases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12 %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19 %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26 %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KI-Investitionen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180 Mrd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252 Mrd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320 Mrd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Skills-Gap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hoch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hoch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mittel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Governance-Reife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niedrig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mittel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mittel</a:t>
                      </a:r>
                    </a:p>
                  </a:txBody>
                </a:tc>
              </a:tr>
            </a:tbl>
          </a:graphicData>
        </a:graphic>
      </p:graphicFrame>
      <p:sp>
        <p:nvSpPr>
          <p:cNvPr id="1001" name="Slide Number Placeholder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de-DE"/>
              <a:t>1</a:t>
            </a:fld>
          </a:p>
        </p:txBody>
      </p:sp>
    </p:spTree>
  </p:cSld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Teil 2: Werthebel</a:t>
            </a:r>
          </a:p>
        </p:txBody>
      </p:sp>
      <p:sp>
        <p:nvSpPr>
          <p:cNvPr id="1001" name="Slide Number Placeholder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de-DE"/>
              <a:t>1</a:t>
            </a:fld>
          </a:p>
        </p:txBody>
      </p:sp>
    </p:spTree>
  </p:cSld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Wo Wert entsteht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>
            <a:normAutofit/>
          </a:bodyPr>
          <a:lstStyle/>
          <a:p>
            <a:pPr lvl="0"/>
            <a:r>
              <a:rPr/>
              <a:t>Umsatz: Pricing, Sales, Cross-Sell</a:t>
            </a:r>
          </a:p>
          <a:p>
            <a:pPr lvl="0"/>
            <a:r>
              <a:rPr/>
              <a:t>Kosten: Automation und Qualität</a:t>
            </a:r>
          </a:p>
          <a:p>
            <a:pPr lvl="0"/>
            <a:r>
              <a:rPr/>
              <a:t>Tempo: kürzere Zyklen, weniger Rework</a:t>
            </a:r>
          </a:p>
          <a:p>
            <a:pPr lvl="0"/>
            <a:r>
              <a:rPr/>
              <a:t>Innovation: neue Produkte &amp; Services</a:t>
            </a:r>
          </a:p>
        </p:txBody>
      </p:sp>
      <p:pic>
        <p:nvPicPr>
          <p:cNvPr descr="/tmp/ppthelper_skeleton_placeholder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4894052" y="2118665"/>
            <a:ext cx="3335840" cy="1877721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001" name="Slide Number Placeholder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de-DE"/>
              <a:t>1</a:t>
            </a:fld>
          </a:p>
        </p:txBody>
      </p:sp>
    </p:spTree>
  </p:cSld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Was Andrew Ng sagt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lvl="0" indent="0">
              <a:buNone/>
            </a:pPr>
            <a:r>
              <a:rPr sz="2000" i="1"/>
              <a:t>KI ersetzt nicht Menschen. Menschen mit KI ersetzen Menschen ohne KI.</a:t>
            </a:r>
          </a:p>
          <a:p>
            <a:pPr lvl="0" indent="0">
              <a:buNone/>
            </a:pPr>
            <a:r>
              <a:rPr sz="2000" i="1"/>
              <a:t>— frei nach Andrew Ng</a:t>
            </a:r>
          </a:p>
        </p:txBody>
      </p:sp>
      <p:sp>
        <p:nvSpPr>
          <p:cNvPr id="1001" name="Slide Number Placeholder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de-DE"/>
              <a:t>1</a:t>
            </a:fld>
          </a:p>
        </p:txBody>
      </p:sp>
    </p:spTree>
  </p:cSld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Use-Case-Portfolio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1028700" y="1714500"/>
          <a:ext cx="7200900" cy="310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00300"/>
                <a:gridCol w="2400300"/>
                <a:gridCol w="24003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Bereich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Use Case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Reife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Service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Agent Assist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hoch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Marketing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Content-Engine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hoch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Operations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Forecasting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mittel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HR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Recruiting Copilot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mittel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Finance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Anomalie-Erkennung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niedrig</a:t>
                      </a:r>
                    </a:p>
                  </a:txBody>
                </a:tc>
              </a:tr>
            </a:tbl>
          </a:graphicData>
        </a:graphic>
      </p:graphicFrame>
      <p:sp>
        <p:nvSpPr>
          <p:cNvPr id="1001" name="Slide Number Placeholder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de-DE"/>
              <a:t>1</a:t>
            </a:fld>
          </a:p>
        </p:txBody>
      </p:sp>
    </p:spTree>
  </p:cSld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Teil 3: Daten &amp; Plattform</a:t>
            </a:r>
          </a:p>
        </p:txBody>
      </p:sp>
      <p:sp>
        <p:nvSpPr>
          <p:cNvPr id="1001" name="Slide Number Placeholder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de-DE"/>
              <a:t>1</a:t>
            </a:fld>
          </a:p>
        </p:txBody>
      </p:sp>
    </p:spTree>
  </p:cSld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Daten als Engpass</a:t>
            </a:r>
          </a:p>
        </p:txBody>
      </p:sp>
      <p:pic>
        <p:nvPicPr>
          <p:cNvPr descr="/tmp/ppthelper_skeleton_placeholder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1028700" y="2118665"/>
            <a:ext cx="3335840" cy="1877721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pPr lvl="0"/>
            <a:r>
              <a:rPr/>
              <a:t>Datenqualität limitiert die meisten Piloten</a:t>
            </a:r>
          </a:p>
          <a:p>
            <a:pPr lvl="0"/>
            <a:r>
              <a:rPr/>
              <a:t>Ownership fehlt fast überall</a:t>
            </a:r>
          </a:p>
          <a:p>
            <a:pPr lvl="0"/>
            <a:r>
              <a:rPr/>
              <a:t>Vektor-DBs werden zur Pflicht</a:t>
            </a:r>
          </a:p>
          <a:p>
            <a:pPr lvl="0"/>
            <a:r>
              <a:rPr/>
              <a:t>Cost-Tracking pro Workflow wird neu</a:t>
            </a:r>
          </a:p>
        </p:txBody>
      </p:sp>
      <p:sp>
        <p:nvSpPr>
          <p:cNvPr id="1001" name="Slide Number Placeholder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de-DE"/>
              <a:t>1</a:t>
            </a:fld>
          </a:p>
        </p:txBody>
      </p:sp>
    </p:spTree>
  </p:cSld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Architektur-Zielbild</a:t>
            </a:r>
          </a:p>
        </p:txBody>
      </p:sp>
      <p:pic>
        <p:nvPicPr>
          <p:cNvPr descr="/tmp/ppthelper_skeleton_placeholder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2692400" y="1714500"/>
            <a:ext cx="3860800" cy="21717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001" name="Slide Number Placeholder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de-DE"/>
              <a:t>1</a:t>
            </a:fld>
          </a:p>
        </p:txBody>
      </p:sp>
    </p:spTree>
  </p:cSld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Teil 4: Governance</a:t>
            </a:r>
          </a:p>
        </p:txBody>
      </p:sp>
      <p:sp>
        <p:nvSpPr>
          <p:cNvPr id="1001" name="Slide Number Placeholder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de-DE"/>
              <a:t>1</a:t>
            </a:fld>
          </a:p>
        </p:txBody>
      </p:sp>
    </p:spTree>
  </p:cSld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EU AI Act kompakt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lvl="0"/>
            <a:r>
              <a:rPr/>
              <a:t>Anwendungspflicht ab 2026 stufenweise</a:t>
            </a:r>
          </a:p>
          <a:p>
            <a:pPr lvl="0"/>
            <a:r>
              <a:rPr/>
              <a:t>High-Risk-Pflichten ab August 2026</a:t>
            </a:r>
          </a:p>
          <a:p>
            <a:pPr lvl="0"/>
            <a:r>
              <a:rPr/>
              <a:t>Dokumentation und Audit-Trail werden Pflicht</a:t>
            </a:r>
          </a:p>
          <a:p>
            <a:pPr lvl="0"/>
            <a:r>
              <a:rPr/>
              <a:t>Schatten-KI ist heute schon ein Risiko</a:t>
            </a:r>
          </a:p>
        </p:txBody>
      </p:sp>
      <p:sp>
        <p:nvSpPr>
          <p:cNvPr id="1001" name="Slide Number Placeholder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de-DE"/>
              <a:t>1</a:t>
            </a:fld>
          </a:p>
        </p:txBody>
      </p:sp>
    </p:spTree>
  </p:cSld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Teil 5: Roadmap &amp; Fazit</a:t>
            </a:r>
          </a:p>
        </p:txBody>
      </p:sp>
      <p:sp>
        <p:nvSpPr>
          <p:cNvPr id="1001" name="Slide Number Placeholder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de-DE"/>
              <a:t>1</a:t>
            </a:fld>
          </a:p>
        </p:txBody>
      </p:sp>
    </p:spTree>
  </p:cSld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12-Monats-Roadmap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1028700" y="1714500"/>
          <a:ext cx="7200900" cy="26797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00300"/>
                <a:gridCol w="2400300"/>
                <a:gridCol w="24003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Quartal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Fokus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Ergebnis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Q1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Strategie &amp; Portfolio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Use-Case-Liste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Q2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Plattform &amp; Piloten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produktive MVPs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Q3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Skalierung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Rollout</a:t>
                      </a:r>
                    </a:p>
                  </a:txBody>
                </a:tc>
              </a:tr>
            </a:tbl>
          </a:graphicData>
        </a:graphic>
      </p:graphicFrame>
      <p:sp>
        <p:nvSpPr>
          <p:cNvPr id="1001" name="Slide Number Placeholder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de-DE"/>
              <a:t>1</a:t>
            </a:fld>
          </a:p>
        </p:txBody>
      </p:sp>
    </p:spTree>
  </p:cSld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Erfolgsfaktoren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lvl="0"/>
            <a:r>
              <a:rPr/>
              <a:t>Vorstands-Sponsoring mit klarer Verantwortung</a:t>
            </a:r>
          </a:p>
          <a:p>
            <a:pPr lvl="0"/>
            <a:r>
              <a:rPr/>
              <a:t>Fokus auf wenige, messbare Werthebel</a:t>
            </a:r>
          </a:p>
          <a:p>
            <a:pPr lvl="0"/>
            <a:r>
              <a:rPr/>
              <a:t>Daten- und Prozessarbeit vor Modell-Faszination</a:t>
            </a:r>
          </a:p>
          <a:p>
            <a:pPr lvl="0"/>
            <a:r>
              <a:rPr/>
              <a:t>Governance als Beschleuniger, nicht als Bremse</a:t>
            </a:r>
          </a:p>
        </p:txBody>
      </p:sp>
      <p:sp>
        <p:nvSpPr>
          <p:cNvPr id="1001" name="Slide Number Placeholder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de-DE"/>
              <a:t>1</a:t>
            </a:fld>
          </a:p>
        </p:txBody>
      </p:sp>
    </p:spTree>
  </p:cSld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Fazit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lvl="0"/>
            <a:r>
              <a:rPr/>
              <a:t>KI ist Organisationsentwicklung, kein IT-Projekt</a:t>
            </a:r>
          </a:p>
          <a:p>
            <a:pPr lvl="0"/>
            <a:r>
              <a:rPr/>
              <a:t>Wettbewerbsvorteil entsteht durch integrierte Workflows</a:t>
            </a:r>
          </a:p>
          <a:p>
            <a:pPr lvl="0"/>
            <a:r>
              <a:rPr/>
              <a:t>Verantwortungsvolle Skalierung braucht Leitplanken</a:t>
            </a:r>
          </a:p>
          <a:p>
            <a:pPr lvl="0"/>
            <a:r>
              <a:rPr/>
              <a:t>Jetzt zählt: priorisieren, produktiv setzen, lernen, skalieren</a:t>
            </a:r>
          </a:p>
        </p:txBody>
      </p:sp>
      <p:sp>
        <p:nvSpPr>
          <p:cNvPr id="1001" name="Slide Number Placeholder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de-DE"/>
              <a:t>1</a:t>
            </a:fld>
          </a:p>
        </p:txBody>
      </p:sp>
    </p:spTree>
  </p:cSld>
</p:sld>
</file>

<file path=ppt/theme/theme1.xml><?xml version="1.0" encoding="utf-8"?>
<a:theme xmlns:a="http://schemas.openxmlformats.org/drawingml/2006/main" name="Ausschnitt">
  <a:themeElements>
    <a:clrScheme name="Ausschnitt">
      <a:dk1>
        <a:sysClr val="windowText" lastClr="000000"/>
      </a:dk1>
      <a:lt1>
        <a:sysClr val="window" lastClr="FFFFFF"/>
      </a:lt1>
      <a:dk2>
        <a:srgbClr val="191B0E"/>
      </a:dk2>
      <a:lt2>
        <a:srgbClr val="EFEDE3"/>
      </a:lt2>
      <a:accent1>
        <a:srgbClr val="8C8D86"/>
      </a:accent1>
      <a:accent2>
        <a:srgbClr val="E6C069"/>
      </a:accent2>
      <a:accent3>
        <a:srgbClr val="897B61"/>
      </a:accent3>
      <a:accent4>
        <a:srgbClr val="8DAB8E"/>
      </a:accent4>
      <a:accent5>
        <a:srgbClr val="77A2BB"/>
      </a:accent5>
      <a:accent6>
        <a:srgbClr val="E28394"/>
      </a:accent6>
      <a:hlink>
        <a:srgbClr val="77A2BB"/>
      </a:hlink>
      <a:folHlink>
        <a:srgbClr val="957A99"/>
      </a:folHlink>
    </a:clrScheme>
    <a:fontScheme name="Ausschnitt">
      <a:majorFont>
        <a:latin typeface="Franklin Gothic Book" panose="020B0503020102020204"/>
        <a:ea typeface=""/>
        <a:cs typeface=""/>
        <a:font script="Jpan" typeface="メイリオ"/>
        <a:font script="Hang" typeface="돋움"/>
        <a:font script="Hans" typeface="华文楷体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Franklin Gothic Book" panose="020B0503020102020204"/>
        <a:ea typeface=""/>
        <a:cs typeface=""/>
        <a:font script="Jpan" typeface="メイリオ"/>
        <a:font script="Hang" typeface="돋움"/>
        <a:font script="Hans" typeface="华文楷体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Ausschnitt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satMod val="105000"/>
                <a:lumMod val="110000"/>
              </a:schemeClr>
            </a:gs>
            <a:gs pos="50000">
              <a:schemeClr val="phClr">
                <a:tint val="73000"/>
                <a:satMod val="103000"/>
                <a:lumMod val="105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satMod val="103000"/>
                <a:lumMod val="102000"/>
              </a:schemeClr>
            </a:gs>
            <a:gs pos="50000">
              <a:schemeClr val="phClr">
                <a:shade val="100000"/>
                <a:satMod val="110000"/>
                <a:lumMod val="100000"/>
              </a:schemeClr>
            </a:gs>
            <a:gs pos="100000">
              <a:schemeClr val="phClr">
                <a:shade val="78000"/>
                <a:satMod val="120000"/>
                <a:lumMod val="99000"/>
              </a:schemeClr>
            </a:gs>
          </a:gsLst>
          <a:lin ang="5400000" scaled="0"/>
        </a:gradFill>
      </a:fillStyleLst>
      <a:lnStyleLst>
        <a:ln w="6350" cap="flat" cmpd="sng" algn="in">
          <a:solidFill>
            <a:schemeClr val="phClr"/>
          </a:solidFill>
          <a:prstDash val="solid"/>
        </a:ln>
        <a:ln w="34925" cap="flat" cmpd="sng" algn="in">
          <a:solidFill>
            <a:schemeClr val="phClr"/>
          </a:solidFill>
          <a:prstDash val="solid"/>
        </a:ln>
        <a:ln w="19050" cap="flat" cmpd="sng" algn="in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rop" id="{EC9488ED-E761-4D60-9AC4-764D1FE2C171}" vid="{CE19780C-D67D-4C13-9DE9-A52BC3BA51B4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Ausschnitt</Template>
  <TotalTime>0</TotalTime>
  <Words>0</Words>
  <Application>Microsoft Office PowerPoint</Application>
  <PresentationFormat>Bildschirmpräsentation (16:9)</PresentationFormat>
  <Paragraphs>0</Paragraphs>
  <Slides>1</Slides>
  <Notes>0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2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1</vt:i4>
      </vt:variant>
    </vt:vector>
  </HeadingPairs>
  <TitlesOfParts>
    <vt:vector size="4" baseType="lpstr">
      <vt:lpstr>Calibri</vt:lpstr>
      <vt:lpstr>Franklin Gothic Book</vt:lpstr>
      <vt:lpstr>Ausschnitt</vt:lpstr>
      <vt:lpstr>PowerPoint-Präsentation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KI in Unternehmen</dc:title>
  <dc:creator>Strategie, Wert &amp; Umsetzung</dc:creator>
  <cp:keywords/>
  <dcterms:created xsi:type="dcterms:W3CDTF">2026-05-23T06:40:06Z</dcterms:created>
  <dcterms:modified xsi:type="dcterms:W3CDTF">2026-05-23T06:40:06Z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date">
    <vt:lpwstr>23. Mai 2026</vt:lpwstr>
  </property>
</Properties>
</file>