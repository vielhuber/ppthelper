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726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32"/>
          <a:sy d="100" n="132"/>
        </p:scale>
        <p:origin x="126" y="26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5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4" Type="http://schemas.openxmlformats.org/officeDocument/2006/relationships/theme" Target="theme/theme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Quellen: McKinsey State of AI 2025, Stanford AI Index 2025, BCG 2024. Konkrete Zahl zur Adoption-Tiefe (1× pro Woche, 1× pro Tag, in Kernprozesse) im Anhang.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Detail-Timeline siehe Greenberg-Traurig 2025 Compliance-Guide. Übergang: “Bevor wir zur Roadmap kommen, kurz zu den Kontrollen…”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Letzte Folie — Schlussbotschaft für die Diskussion: “Wenn wir in 12 Monaten zurückblicken, woran erkennen wir, dass dieses Programm erfolgreich war?”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bg>
      <p:bgPr>
        <a:solidFill>
          <a:schemeClr val="bg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46404" y="569214"/>
            <a:ext cx="7063740" cy="3031236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5400" baseline="0">
                <a:solidFill>
                  <a:schemeClr val="tx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46404" y="3600450"/>
            <a:ext cx="7063740" cy="1268730"/>
          </a:xfrm>
        </p:spPr>
        <p:txBody>
          <a:bodyPr>
            <a:normAutofit/>
          </a:bodyPr>
          <a:lstStyle>
            <a:lvl1pPr marL="0" indent="0" algn="l">
              <a:buNone/>
              <a:defRPr sz="1650" baseline="0">
                <a:solidFill>
                  <a:schemeClr val="tx1">
                    <a:lumMod val="75000"/>
                  </a:schemeClr>
                </a:solidFill>
              </a:defRPr>
            </a:lvl1pPr>
            <a:lvl2pPr marL="342900" indent="0" algn="ctr">
              <a:buNone/>
              <a:defRPr sz="1650"/>
            </a:lvl2pPr>
            <a:lvl3pPr marL="685800" indent="0" algn="ctr">
              <a:buNone/>
              <a:defRPr sz="1650"/>
            </a:lvl3pPr>
            <a:lvl4pPr marL="1028700" indent="0" algn="ctr">
              <a:buNone/>
              <a:defRPr sz="1500"/>
            </a:lvl4pPr>
            <a:lvl5pPr marL="1371600" indent="0" algn="ctr">
              <a:buNone/>
              <a:defRPr sz="1500"/>
            </a:lvl5pPr>
            <a:lvl6pPr marL="1714500" indent="0" algn="ctr">
              <a:buNone/>
              <a:defRPr sz="1500"/>
            </a:lvl6pPr>
            <a:lvl7pPr marL="2057400" indent="0" algn="ctr">
              <a:buNone/>
              <a:defRPr sz="1500"/>
            </a:lvl7pPr>
            <a:lvl8pPr marL="2400300" indent="0" algn="ctr">
              <a:buNone/>
              <a:defRPr sz="1500"/>
            </a:lvl8pPr>
            <a:lvl9pPr marL="2743200" indent="0" algn="ctr">
              <a:buNone/>
              <a:defRPr sz="15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50000"/>
                  </a:schemeClr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42900" cy="514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99722940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1570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6404" y="569214"/>
            <a:ext cx="7063740" cy="3031236"/>
          </a:xfrm>
        </p:spPr>
        <p:txBody>
          <a:bodyPr anchor="b">
            <a:normAutofit/>
          </a:bodyPr>
          <a:lstStyle>
            <a:lvl1pPr>
              <a:lnSpc>
                <a:spcPct val="85000"/>
              </a:lnSpc>
              <a:defRPr sz="54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46404" y="3600450"/>
            <a:ext cx="7063740" cy="1268730"/>
          </a:xfrm>
        </p:spPr>
        <p:txBody>
          <a:bodyPr anchor="t">
            <a:normAutofit/>
          </a:bodyPr>
          <a:lstStyle>
            <a:lvl1pPr marL="0" indent="0">
              <a:buNone/>
              <a:defRPr sz="165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42900" cy="514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6241623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46404" y="1371600"/>
            <a:ext cx="3360420" cy="3263503"/>
          </a:xfrm>
        </p:spPr>
        <p:txBody>
          <a:bodyPr/>
          <a:lstStyle>
            <a:lvl1pPr>
              <a:defRPr sz="1350"/>
            </a:lvl1pPr>
            <a:lvl2pPr>
              <a:defRPr sz="1200"/>
            </a:lvl2pPr>
            <a:lvl3pPr>
              <a:defRPr sz="1050"/>
            </a:lvl3pPr>
            <a:lvl4pPr>
              <a:defRPr sz="1050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94860" y="1371600"/>
            <a:ext cx="3360420" cy="3263503"/>
          </a:xfrm>
        </p:spPr>
        <p:txBody>
          <a:bodyPr/>
          <a:lstStyle>
            <a:lvl1pPr>
              <a:defRPr sz="1350"/>
            </a:lvl1pPr>
            <a:lvl2pPr>
              <a:defRPr sz="1200"/>
            </a:lvl2pPr>
            <a:lvl3pPr>
              <a:defRPr sz="1050"/>
            </a:lvl3pPr>
            <a:lvl4pPr>
              <a:defRPr sz="1050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50172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46404" y="1285241"/>
            <a:ext cx="3360420" cy="54864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1500" b="0">
                <a:solidFill>
                  <a:schemeClr val="tx2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46404" y="1880662"/>
            <a:ext cx="3360420" cy="2748488"/>
          </a:xfrm>
        </p:spPr>
        <p:txBody>
          <a:bodyPr/>
          <a:lstStyle>
            <a:lvl1pPr>
              <a:defRPr sz="1350"/>
            </a:lvl1pPr>
            <a:lvl2pPr>
              <a:defRPr sz="1200"/>
            </a:lvl2pPr>
            <a:lvl3pPr>
              <a:defRPr sz="1050"/>
            </a:lvl3pPr>
            <a:lvl4pPr>
              <a:defRPr sz="1050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94860" y="1285241"/>
            <a:ext cx="3360420" cy="548640"/>
          </a:xfrm>
        </p:spPr>
        <p:txBody>
          <a:bodyPr anchor="b">
            <a:normAutofit/>
          </a:bodyPr>
          <a:lstStyle>
            <a:lvl1pPr marL="0" indent="0">
              <a:lnSpc>
                <a:spcPct val="95000"/>
              </a:lnSpc>
              <a:spcBef>
                <a:spcPts val="0"/>
              </a:spcBef>
              <a:buNone/>
              <a:defRPr lang="en-US" sz="1500" b="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marL="0" lvl="0" indent="0" algn="l" defTabSz="685800" rtl="0" eaLnBrk="1" latinLnBrk="0" hangingPunct="1">
              <a:lnSpc>
                <a:spcPct val="90000"/>
              </a:lnSpc>
              <a:spcBef>
                <a:spcPts val="1500"/>
              </a:spcBef>
              <a:buFontTx/>
              <a:buNone/>
            </a:pPr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594860" y="1880662"/>
            <a:ext cx="3360420" cy="2748488"/>
          </a:xfrm>
        </p:spPr>
        <p:txBody>
          <a:bodyPr/>
          <a:lstStyle>
            <a:lvl1pPr>
              <a:defRPr sz="1350"/>
            </a:lvl1pPr>
            <a:lvl2pPr>
              <a:defRPr sz="1200"/>
            </a:lvl2pPr>
            <a:lvl3pPr>
              <a:defRPr sz="1050"/>
            </a:lvl3pPr>
            <a:lvl4pPr>
              <a:defRPr sz="1050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25937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37596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58284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936" y="342900"/>
            <a:ext cx="2400300" cy="1200148"/>
          </a:xfrm>
        </p:spPr>
        <p:txBody>
          <a:bodyPr anchor="b">
            <a:normAutofit/>
          </a:bodyPr>
          <a:lstStyle>
            <a:lvl1pPr>
              <a:defRPr sz="2400" b="0" baseline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78200" y="514350"/>
            <a:ext cx="4559300" cy="4114800"/>
          </a:xfrm>
        </p:spPr>
        <p:txBody>
          <a:bodyPr/>
          <a:lstStyle>
            <a:lvl1pPr>
              <a:defRPr sz="1500"/>
            </a:lvl1pPr>
            <a:lvl2pPr>
              <a:defRPr sz="1350"/>
            </a:lvl2pPr>
            <a:lvl3pPr>
              <a:defRPr sz="1200"/>
            </a:lvl3pPr>
            <a:lvl4pPr>
              <a:defRPr sz="1050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30936" y="1574801"/>
            <a:ext cx="2400300" cy="2857501"/>
          </a:xfrm>
        </p:spPr>
        <p:txBody>
          <a:bodyPr>
            <a:normAutofit/>
          </a:bodyPr>
          <a:lstStyle>
            <a:lvl1pPr marL="0" indent="0">
              <a:lnSpc>
                <a:spcPct val="114000"/>
              </a:lnSpc>
              <a:spcBef>
                <a:spcPts val="600"/>
              </a:spcBef>
              <a:buNone/>
              <a:defRPr sz="975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02544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3829050"/>
            <a:ext cx="8469630" cy="13144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3943350"/>
            <a:ext cx="7486650" cy="685800"/>
          </a:xfrm>
        </p:spPr>
        <p:txBody>
          <a:bodyPr anchor="b">
            <a:normAutofit/>
          </a:bodyPr>
          <a:lstStyle>
            <a:lvl1pPr>
              <a:defRPr sz="2100" b="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1"/>
            <a:ext cx="8469630" cy="3846692"/>
          </a:xfrm>
          <a:solidFill>
            <a:schemeClr val="accent1"/>
          </a:solidFill>
        </p:spPr>
        <p:txBody>
          <a:bodyPr anchor="t"/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4581442"/>
            <a:ext cx="7486650" cy="447758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975">
                <a:solidFill>
                  <a:schemeClr val="bg1">
                    <a:lumMod val="85000"/>
                  </a:schemeClr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20442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64999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486525" y="285750"/>
            <a:ext cx="1857375" cy="4423172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71500" y="285750"/>
            <a:ext cx="5800725" cy="4423172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8701113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8469630" y="0"/>
            <a:ext cx="685800" cy="51435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46404" y="274320"/>
            <a:ext cx="7269480" cy="99417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46404" y="1371600"/>
            <a:ext cx="6446520" cy="326350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16200000">
            <a:off x="8098157" y="748903"/>
            <a:ext cx="1428749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88" b="0">
                <a:solidFill>
                  <a:schemeClr val="tx2">
                    <a:lumMod val="20000"/>
                    <a:lumOff val="80000"/>
                  </a:schemeClr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16200000">
            <a:off x="7469506" y="3034903"/>
            <a:ext cx="268605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88">
                <a:solidFill>
                  <a:schemeClr val="tx2">
                    <a:lumMod val="20000"/>
                    <a:lumOff val="8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469630" y="4629150"/>
            <a:ext cx="685800" cy="445294"/>
          </a:xfrm>
          <a:prstGeom prst="rect">
            <a:avLst/>
          </a:prstGeom>
        </p:spPr>
        <p:txBody>
          <a:bodyPr vert="horz" lIns="45720" tIns="45720" rIns="45720" bIns="45720" rtlCol="0" anchor="ctr">
            <a:normAutofit/>
          </a:bodyPr>
          <a:lstStyle>
            <a:lvl1pPr algn="ctr">
              <a:defRPr sz="270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16212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 spc="-38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37160" indent="-137160" algn="l" defTabSz="685800" rtl="0" eaLnBrk="1" latinLnBrk="0" hangingPunct="1">
        <a:lnSpc>
          <a:spcPct val="95000"/>
        </a:lnSpc>
        <a:spcBef>
          <a:spcPts val="1050"/>
        </a:spcBef>
        <a:spcAft>
          <a:spcPts val="150"/>
        </a:spcAft>
        <a:buClr>
          <a:schemeClr val="accent1"/>
        </a:buClr>
        <a:buSzPct val="80000"/>
        <a:buFont typeface="Arial" pitchFamily="34" charset="0"/>
        <a:buChar char="•"/>
        <a:defRPr sz="1350" kern="1200" spc="8" baseline="0">
          <a:solidFill>
            <a:schemeClr val="tx1"/>
          </a:solidFill>
          <a:latin typeface="+mn-lt"/>
          <a:ea typeface="+mn-ea"/>
          <a:cs typeface="+mn-cs"/>
        </a:defRPr>
      </a:lvl1pPr>
      <a:lvl2pPr marL="342900" indent="-137160" algn="l" defTabSz="685800" rtl="0" eaLnBrk="1" latinLnBrk="0" hangingPunct="1">
        <a:lnSpc>
          <a:spcPct val="90000"/>
        </a:lnSpc>
        <a:spcBef>
          <a:spcPts val="225"/>
        </a:spcBef>
        <a:spcAft>
          <a:spcPts val="225"/>
        </a:spcAft>
        <a:buClr>
          <a:schemeClr val="accent1"/>
        </a:buClr>
        <a:buFont typeface="Wingdings 2" pitchFamily="18" charset="2"/>
        <a:buChar char=""/>
        <a:defRPr sz="12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548640" indent="-137160" algn="l" defTabSz="685800" rtl="0" eaLnBrk="1" latinLnBrk="0" hangingPunct="1">
        <a:lnSpc>
          <a:spcPct val="90000"/>
        </a:lnSpc>
        <a:spcBef>
          <a:spcPts val="225"/>
        </a:spcBef>
        <a:spcAft>
          <a:spcPts val="225"/>
        </a:spcAft>
        <a:buClr>
          <a:schemeClr val="accent1"/>
        </a:buClr>
        <a:buFont typeface="Wingdings 2" pitchFamily="18" charset="2"/>
        <a:buChar char=""/>
        <a:defRPr sz="10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754380" indent="-137160" algn="l" defTabSz="685800" rtl="0" eaLnBrk="1" latinLnBrk="0" hangingPunct="1">
        <a:lnSpc>
          <a:spcPct val="90000"/>
        </a:lnSpc>
        <a:spcBef>
          <a:spcPts val="225"/>
        </a:spcBef>
        <a:spcAft>
          <a:spcPts val="225"/>
        </a:spcAft>
        <a:buClr>
          <a:schemeClr val="accent1"/>
        </a:buClr>
        <a:buFont typeface="Wingdings 2" pitchFamily="18" charset="2"/>
        <a:buChar char=""/>
        <a:defRPr sz="10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960120" indent="-137160" algn="l" defTabSz="685800" rtl="0" eaLnBrk="1" latinLnBrk="0" hangingPunct="1">
        <a:lnSpc>
          <a:spcPct val="90000"/>
        </a:lnSpc>
        <a:spcBef>
          <a:spcPts val="225"/>
        </a:spcBef>
        <a:spcAft>
          <a:spcPts val="225"/>
        </a:spcAft>
        <a:buClr>
          <a:schemeClr val="accent1"/>
        </a:buClr>
        <a:buFont typeface="Wingdings 2" pitchFamily="18" charset="2"/>
        <a:buChar char=""/>
        <a:defRPr sz="10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200000" indent="-171450" algn="l" defTabSz="685800" rtl="0" eaLnBrk="1" latinLnBrk="0" hangingPunct="1">
        <a:lnSpc>
          <a:spcPct val="90000"/>
        </a:lnSpc>
        <a:spcBef>
          <a:spcPts val="225"/>
        </a:spcBef>
        <a:spcAft>
          <a:spcPts val="225"/>
        </a:spcAft>
        <a:buClr>
          <a:schemeClr val="accent1"/>
        </a:buClr>
        <a:buFont typeface="Wingdings 2" pitchFamily="18" charset="2"/>
        <a:buChar char=""/>
        <a:defRPr sz="10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6pPr>
      <a:lvl7pPr marL="1425000" indent="-171450" algn="l" defTabSz="685800" rtl="0" eaLnBrk="1" latinLnBrk="0" hangingPunct="1">
        <a:lnSpc>
          <a:spcPct val="90000"/>
        </a:lnSpc>
        <a:spcBef>
          <a:spcPts val="225"/>
        </a:spcBef>
        <a:spcAft>
          <a:spcPts val="225"/>
        </a:spcAft>
        <a:buClr>
          <a:schemeClr val="accent1"/>
        </a:buClr>
        <a:buFont typeface="Wingdings 2" pitchFamily="18" charset="2"/>
        <a:buChar char=""/>
        <a:defRPr sz="10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7pPr>
      <a:lvl8pPr marL="1650000" indent="-171450" algn="l" defTabSz="685800" rtl="0" eaLnBrk="1" latinLnBrk="0" hangingPunct="1">
        <a:lnSpc>
          <a:spcPct val="90000"/>
        </a:lnSpc>
        <a:spcBef>
          <a:spcPts val="225"/>
        </a:spcBef>
        <a:spcAft>
          <a:spcPts val="225"/>
        </a:spcAft>
        <a:buClr>
          <a:schemeClr val="accent1"/>
        </a:buClr>
        <a:buFont typeface="Wingdings 2" pitchFamily="18" charset="2"/>
        <a:buChar char=""/>
        <a:defRPr sz="10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8pPr>
      <a:lvl9pPr marL="1875000" indent="-171450" algn="l" defTabSz="685800" rtl="0" eaLnBrk="1" latinLnBrk="0" hangingPunct="1">
        <a:lnSpc>
          <a:spcPct val="90000"/>
        </a:lnSpc>
        <a:spcBef>
          <a:spcPts val="225"/>
        </a:spcBef>
        <a:spcAft>
          <a:spcPts val="225"/>
        </a:spcAft>
        <a:buClr>
          <a:schemeClr val="accent1"/>
        </a:buClr>
        <a:buFont typeface="Wingdings 2" pitchFamily="18" charset="2"/>
        <a:buChar char=""/>
        <a:defRPr sz="10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 in Unternehmen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Strategie, Wert &amp; Umsetzung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23. Mai 2026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-342900" marL="342900">
              <a:buAutoNum type="arabicPeriod"/>
            </a:pPr>
            <a:r>
              <a:rPr/>
              <a:t>Marktdynamik</a:t>
            </a:r>
          </a:p>
          <a:p>
            <a:pPr lvl="0" indent="-342900" marL="342900">
              <a:buAutoNum startAt="2" type="arabicPeriod"/>
            </a:pPr>
            <a:r>
              <a:rPr/>
              <a:t>Werthebel</a:t>
            </a:r>
          </a:p>
          <a:p>
            <a:pPr lvl="0" indent="-342900" marL="342900">
              <a:buAutoNum startAt="3" type="arabicPeriod"/>
            </a:pPr>
            <a:r>
              <a:rPr/>
              <a:t>Daten &amp; Plattform</a:t>
            </a:r>
          </a:p>
          <a:p>
            <a:pPr lvl="0" indent="-342900" marL="342900">
              <a:buAutoNum startAt="4" type="arabicPeriod"/>
            </a:pPr>
            <a:r>
              <a:rPr/>
              <a:t>Governance</a:t>
            </a:r>
          </a:p>
          <a:p>
            <a:pPr lvl="0" indent="-342900" marL="342900">
              <a:buAutoNum startAt="5" type="arabicPeriod"/>
            </a:pPr>
            <a:r>
              <a:rPr/>
              <a:t>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1: Marktdynamik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Adoption steigt rasant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78 % der Unternehmen nutzen GenAI wöchentlich</a:t>
            </a:r>
          </a:p>
          <a:p>
            <a:pPr lvl="0"/>
            <a:r>
              <a:rPr/>
              <a:t>Pilot-zu-Produktion bleibt das Nadelöhr</a:t>
            </a:r>
          </a:p>
          <a:p>
            <a:pPr lvl="0"/>
            <a:r>
              <a:rPr/>
              <a:t>Investitionen verdoppeln sich jedes Jahr</a:t>
            </a:r>
          </a:p>
          <a:p>
            <a:pPr lvl="0"/>
            <a:r>
              <a:rPr/>
              <a:t>Skill-Gap wird zur Engpass-Disziplin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Markttrends 2026 im 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46404" y="2057573"/>
            <a:ext cx="3360420" cy="1891557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Agentic AI verlässt das Lab</a:t>
            </a:r>
          </a:p>
          <a:p>
            <a:pPr lvl="0"/>
            <a:r>
              <a:rPr/>
              <a:t>Multimodale Modelle werden Standard</a:t>
            </a:r>
          </a:p>
          <a:p>
            <a:pPr lvl="0"/>
            <a:r>
              <a:rPr/>
              <a:t>On-Device-Inferenz für sensible Daten</a:t>
            </a:r>
          </a:p>
          <a:p>
            <a:pPr lvl="0"/>
            <a:r>
              <a:rPr/>
              <a:t>Open-Source-Modelle holen auf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Kernzahlen 2024–2026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939800" y="1371600"/>
          <a:ext cx="6438900" cy="325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/>
                <a:gridCol w="1600200"/>
                <a:gridCol w="1600200"/>
                <a:gridCol w="1600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Indikator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KI-Nutzung (wöchentlich)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56 %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71 %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Skalierte Use Cases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26 %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KI-Investitionen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180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252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320 Mrd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Skills-Gap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Governance-Reife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2: Werthebel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 Wert entsteht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Umsatz: Pricing, Sales, Cross-Sell</a:t>
            </a:r>
          </a:p>
          <a:p>
            <a:pPr lvl="0"/>
            <a:r>
              <a:rPr/>
              <a:t>Kosten: Automation und Qualität</a:t>
            </a:r>
          </a:p>
          <a:p>
            <a:pPr lvl="0"/>
            <a:r>
              <a:rPr/>
              <a:t>Tempo: kürzere Zyklen, weniger Rework</a:t>
            </a:r>
          </a:p>
          <a:p>
            <a:pPr lvl="0"/>
            <a:r>
              <a:rPr/>
              <a:t>Innovation: neue Produkte &amp; Services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94860" y="2057573"/>
            <a:ext cx="3360420" cy="1891557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Andrew Ng sagt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0">
              <a:buNone/>
            </a:pPr>
            <a:r>
              <a:rPr sz="2000" i="1"/>
              <a:t>KI ersetzt nicht Menschen. Menschen mit KI ersetzen Menschen ohne KI.</a:t>
            </a:r>
          </a:p>
          <a:p>
            <a:pPr lvl="0" indent="0">
              <a:buNone/>
            </a:pPr>
            <a:r>
              <a:rPr sz="2000" i="1"/>
              <a:t>— frei nach Andrew Ng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Use-Case-Portfolio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939800" y="1371600"/>
          <a:ext cx="6438900" cy="325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6300"/>
                <a:gridCol w="2146300"/>
                <a:gridCol w="2146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Bereich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Reife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Agent Assist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Marketing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Content-Engine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Forecasting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Recruiting Copilot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Anomalie-Erkennung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3: Daten &amp; Plattform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 als Engpass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46404" y="2057573"/>
            <a:ext cx="3360420" cy="1891557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Datenqualität limitiert die meisten Piloten</a:t>
            </a:r>
          </a:p>
          <a:p>
            <a:pPr lvl="0"/>
            <a:r>
              <a:rPr/>
              <a:t>Ownership fehlt fast überall</a:t>
            </a:r>
          </a:p>
          <a:p>
            <a:pPr lvl="0"/>
            <a:r>
              <a:rPr/>
              <a:t>Vektor-DBs werden zur Pflicht</a:t>
            </a:r>
          </a:p>
          <a:p>
            <a:pPr lvl="0"/>
            <a:r>
              <a:rPr/>
              <a:t>Cost-Tracking pro Workflow wird neu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Architektur-Zielbild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727200" y="1371600"/>
            <a:ext cx="48768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4: Governance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EU AI Act kompakt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Anwendungspflicht ab 2026 stufenweise</a:t>
            </a:r>
          </a:p>
          <a:p>
            <a:pPr lvl="0"/>
            <a:r>
              <a:rPr/>
              <a:t>High-Risk-Pflichten ab August 2026</a:t>
            </a:r>
          </a:p>
          <a:p>
            <a:pPr lvl="0"/>
            <a:r>
              <a:rPr/>
              <a:t>Dokumentation und Audit-Trail werden Pflicht</a:t>
            </a:r>
          </a:p>
          <a:p>
            <a:pPr lvl="0"/>
            <a:r>
              <a:rPr/>
              <a:t>Schatten-KI ist heute schon ein Risiko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5: 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12-Monats-Roadmap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939800" y="1371600"/>
          <a:ext cx="6438900" cy="325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6300"/>
                <a:gridCol w="2146300"/>
                <a:gridCol w="2146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Fokus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Ergebnis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Strategie &amp; Portfolio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Use-Case-Liste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Plattform &amp; Piloten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produktive MVPs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Rollout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Erfolgsfaktoren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Vorstands-Sponsoring mit klarer Verantwortung</a:t>
            </a:r>
          </a:p>
          <a:p>
            <a:pPr lvl="0"/>
            <a:r>
              <a:rPr/>
              <a:t>Fokus auf wenige, messbare Werthebel</a:t>
            </a:r>
          </a:p>
          <a:p>
            <a:pPr lvl="0"/>
            <a:r>
              <a:rPr/>
              <a:t>Daten- und Prozessarbeit vor Modell-Faszination</a:t>
            </a:r>
          </a:p>
          <a:p>
            <a:pPr lvl="0"/>
            <a:r>
              <a:rPr/>
              <a:t>Governance als Beschleuniger, nicht als Bremse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Fazit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KI ist Organisationsentwicklung, kein IT-Projekt</a:t>
            </a:r>
          </a:p>
          <a:p>
            <a:pPr lvl="0"/>
            <a:r>
              <a:rPr/>
              <a:t>Wettbewerbsvorteil entsteht durch integrierte Workflows</a:t>
            </a:r>
          </a:p>
          <a:p>
            <a:pPr lvl="0"/>
            <a:r>
              <a:rPr/>
              <a:t>Verantwortungsvolle Skalierung braucht Leitplanken</a:t>
            </a:r>
          </a:p>
          <a:p>
            <a:pPr lvl="0"/>
            <a:r>
              <a:rPr/>
              <a:t>Jetzt zählt: priorisieren, produktiv setzen, lernen, skalieren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theme/theme1.xml><?xml version="1.0" encoding="utf-8"?>
<a:theme xmlns:a="http://schemas.openxmlformats.org/drawingml/2006/main" name="Aussicht">
  <a:themeElements>
    <a:clrScheme name="Aussicht">
      <a:dk1>
        <a:srgbClr val="000000"/>
      </a:dk1>
      <a:lt1>
        <a:srgbClr val="FFFFFF"/>
      </a:lt1>
      <a:dk2>
        <a:srgbClr val="46464A"/>
      </a:dk2>
      <a:lt2>
        <a:srgbClr val="D6D3CC"/>
      </a:lt2>
      <a:accent1>
        <a:srgbClr val="6F6F74"/>
      </a:accent1>
      <a:accent2>
        <a:srgbClr val="92A9B9"/>
      </a:accent2>
      <a:accent3>
        <a:srgbClr val="A7B789"/>
      </a:accent3>
      <a:accent4>
        <a:srgbClr val="B9A489"/>
      </a:accent4>
      <a:accent5>
        <a:srgbClr val="8D6374"/>
      </a:accent5>
      <a:accent6>
        <a:srgbClr val="9B7362"/>
      </a:accent6>
      <a:hlink>
        <a:srgbClr val="67AABF"/>
      </a:hlink>
      <a:folHlink>
        <a:srgbClr val="ABAFA5"/>
      </a:folHlink>
    </a:clrScheme>
    <a:fontScheme name="Aussicht">
      <a:maj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Aussicht">
      <a:fillStyleLst>
        <a:solidFill>
          <a:schemeClr val="phClr"/>
        </a:solidFill>
        <a:solidFill>
          <a:schemeClr val="phClr">
            <a:tint val="60000"/>
            <a:satMod val="120000"/>
          </a:schemeClr>
        </a:solidFill>
        <a:solidFill>
          <a:schemeClr val="phClr">
            <a:shade val="75000"/>
            <a:satMod val="16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3970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95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5240" dir="5400000" algn="tl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9525" prstMaterial="flat">
            <a:bevelT w="0" h="0" prst="coolSlant"/>
            <a:contourClr>
              <a:schemeClr val="phClr">
                <a:shade val="35000"/>
                <a:satMod val="130000"/>
              </a:schemeClr>
            </a:contourClr>
          </a:sp3d>
        </a:effectStyle>
        <a:effectStyle>
          <a:effectLst>
            <a:outerShdw blurRad="76200" dist="25400" dir="5400000" algn="tl" rotWithShape="0">
              <a:srgbClr val="000000">
                <a:alpha val="5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19050" prstMaterial="flat">
            <a:bevelT w="0" h="0" prst="coolSlant"/>
            <a:contourClr>
              <a:schemeClr val="phClr">
                <a:shade val="25000"/>
                <a:satMod val="14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4000"/>
                <a:shade val="98000"/>
                <a:satMod val="130000"/>
                <a:lumMod val="102000"/>
              </a:schemeClr>
            </a:gs>
            <a:gs pos="100000">
              <a:schemeClr val="phClr">
                <a:tint val="98000"/>
                <a:shade val="78000"/>
                <a:satMod val="140000"/>
              </a:schemeClr>
            </a:gs>
          </a:gsLst>
          <a:path path="circle">
            <a:fillToRect l="100000" t="10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iew" id="{BA0EB5A6-F2D4-4F82-977B-64ADEE4A2A69}" vid="{3969A8A2-35DB-4E3B-8885-16FD2056867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Aussicht</Template>
  <TotalTime>0</TotalTime>
  <Words>0</Words>
  <Application>Microsoft Office PowerPoint</Application>
  <PresentationFormat>Bildschirmpräsentation (16:9)</PresentationFormat>
  <Paragraphs>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6" baseType="lpstr">
      <vt:lpstr>Arial</vt:lpstr>
      <vt:lpstr>Calibri</vt:lpstr>
      <vt:lpstr>Century Schoolbook</vt:lpstr>
      <vt:lpstr>Wingdings 2</vt:lpstr>
      <vt:lpstr>Aussicht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 in Unternehmen</dc:title>
  <dc:creator>Strategie, Wert &amp; Umsetzung</dc:creator>
  <cp:keywords/>
  <dcterms:created xsi:type="dcterms:W3CDTF">2026-05-23T06:40:06Z</dcterms:created>
  <dcterms:modified xsi:type="dcterms:W3CDTF">2026-05-23T06:40:06Z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23. Mai 2026</vt:lpwstr>
  </property>
</Properties>
</file>