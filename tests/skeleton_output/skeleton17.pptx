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726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32"/>
          <a:sy d="100" n="132"/>
        </p:scale>
        <p:origin x="126" y="26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notesMaster" Target="notesMasters/notesMaster1.xml" /><Relationship Id="rId25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24" Type="http://schemas.openxmlformats.org/officeDocument/2006/relationships/theme" Target="theme/theme1.xml" /><Relationship Id="rId23" Type="http://schemas.openxmlformats.org/officeDocument/2006/relationships/viewProps" Target="viewProps.xml" /><Relationship Id="rId22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Quellen: McKinsey State of AI 2025, Stanford AI Index 2025, BCG 2024. Konkrete Zahl zur Adoption-Tiefe (1× pro Woche, 1× pro Tag, in Kernprozesse) im Anhang.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Detail-Timeline siehe Greenberg-Traurig 2025 Compliance-Guide. Übergang: “Bevor wir zur Roadmap kommen, kurz zu den Kontrollen…”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Letzte Folie — Schlussbotschaft für die Diskussion: “Wenn wir in 12 Monaten zurückblicken, woran erkennen wir, dass dieses Programm erfolgreich war?”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3182138"/>
            <a:ext cx="6726063" cy="206957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787" y="3182884"/>
            <a:ext cx="2307831" cy="20770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1942559"/>
            <a:ext cx="6726064" cy="12452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6833787" y="1942559"/>
            <a:ext cx="2307832" cy="12452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0241" y="2050282"/>
            <a:ext cx="6108101" cy="1029803"/>
          </a:xfrm>
        </p:spPr>
        <p:txBody>
          <a:bodyPr anchor="b">
            <a:noAutofit/>
          </a:bodyPr>
          <a:lstStyle>
            <a:lvl1pPr algn="r">
              <a:defRPr sz="405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0241" y="3295530"/>
            <a:ext cx="6108101" cy="838265"/>
          </a:xfrm>
        </p:spPr>
        <p:txBody>
          <a:bodyPr>
            <a:normAutofit/>
          </a:bodyPr>
          <a:lstStyle>
            <a:lvl1pPr marL="0" indent="0" algn="r">
              <a:buNone/>
              <a:defRPr sz="15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41510" y="2062753"/>
            <a:ext cx="878916" cy="1017332"/>
          </a:xfrm>
        </p:spPr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270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477680"/>
            <a:ext cx="7828359" cy="240873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802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3065180"/>
            <a:ext cx="7828359" cy="240873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68" y="3065926"/>
            <a:ext cx="1202248" cy="10820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0447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7939369" y="20447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2" y="2152421"/>
            <a:ext cx="7210395" cy="818091"/>
          </a:xfrm>
        </p:spPr>
        <p:txBody>
          <a:bodyPr anchor="ctr">
            <a:normAutofit/>
          </a:bodyPr>
          <a:lstStyle>
            <a:lvl1pPr algn="r">
              <a:defRPr sz="27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0242" y="3174129"/>
            <a:ext cx="7210395" cy="1278013"/>
          </a:xfrm>
        </p:spPr>
        <p:txBody>
          <a:bodyPr>
            <a:normAutofit/>
          </a:bodyPr>
          <a:lstStyle>
            <a:lvl1pPr marL="0" indent="0" algn="r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47092" y="2152422"/>
            <a:ext cx="865613" cy="818092"/>
          </a:xfrm>
        </p:spPr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6002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477680"/>
            <a:ext cx="7828359" cy="240873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0240" y="1752655"/>
            <a:ext cx="3523769" cy="269948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95592" y="1752655"/>
            <a:ext cx="3525044" cy="269948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5354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477680"/>
            <a:ext cx="7828359" cy="240873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0" y="564922"/>
            <a:ext cx="7210397" cy="81070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9763" y="1752655"/>
            <a:ext cx="3354245" cy="51985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0242" y="2272507"/>
            <a:ext cx="3523766" cy="217963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5116" y="1752655"/>
            <a:ext cx="3355521" cy="519057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195593" y="2272507"/>
            <a:ext cx="3525044" cy="217963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3914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477680"/>
            <a:ext cx="7828359" cy="240873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81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256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477680"/>
            <a:ext cx="7828359" cy="240873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1" y="564920"/>
            <a:ext cx="7210394" cy="810705"/>
          </a:xfrm>
        </p:spPr>
        <p:txBody>
          <a:bodyPr anchor="ctr">
            <a:normAutofit/>
          </a:bodyPr>
          <a:lstStyle>
            <a:lvl1pPr>
              <a:defRPr sz="27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14385" y="1752655"/>
            <a:ext cx="4206252" cy="269948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1" y="1752654"/>
            <a:ext cx="2842559" cy="2699488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8689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477680"/>
            <a:ext cx="7828359" cy="240873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3" y="564921"/>
            <a:ext cx="7210393" cy="810704"/>
          </a:xfrm>
        </p:spPr>
        <p:txBody>
          <a:bodyPr anchor="ctr">
            <a:normAutofit/>
          </a:bodyPr>
          <a:lstStyle>
            <a:lvl1pPr>
              <a:defRPr sz="27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651250" y="1752656"/>
            <a:ext cx="4069387" cy="2699484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2" y="1752655"/>
            <a:ext cx="2907192" cy="2699486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7584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446471"/>
            <a:ext cx="7828359" cy="240873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4447216"/>
            <a:ext cx="1202248" cy="10820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3425991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3425991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2" y="3533713"/>
            <a:ext cx="7210394" cy="339788"/>
          </a:xfrm>
        </p:spPr>
        <p:txBody>
          <a:bodyPr anchor="b">
            <a:normAutofit/>
          </a:bodyPr>
          <a:lstStyle>
            <a:lvl1pPr>
              <a:defRPr sz="18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0242" y="457198"/>
            <a:ext cx="7210394" cy="2692181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39" y="3877188"/>
            <a:ext cx="7210397" cy="46722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47092" y="3533482"/>
            <a:ext cx="865613" cy="818092"/>
          </a:xfrm>
        </p:spPr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7662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446471"/>
            <a:ext cx="7828359" cy="240873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4447216"/>
            <a:ext cx="1202248" cy="10820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3425991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3425991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1" y="457198"/>
            <a:ext cx="7210394" cy="2694563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2" y="3533712"/>
            <a:ext cx="7210394" cy="818092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47092" y="3533712"/>
            <a:ext cx="865613" cy="818092"/>
          </a:xfrm>
        </p:spPr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0325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446471"/>
            <a:ext cx="7828359" cy="240873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4447216"/>
            <a:ext cx="1202248" cy="108203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3425991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7939371" y="3425991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92" y="457199"/>
            <a:ext cx="6539158" cy="2277046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051717" y="2740034"/>
            <a:ext cx="6117434" cy="411726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2" y="3533712"/>
            <a:ext cx="7210394" cy="818092"/>
          </a:xfrm>
        </p:spPr>
        <p:txBody>
          <a:bodyPr anchor="ctr"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47092" y="3532444"/>
            <a:ext cx="865613" cy="818092"/>
          </a:xfrm>
        </p:spPr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437679" y="56108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54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47107" y="2275143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54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90311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446471"/>
            <a:ext cx="7828359" cy="240873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4447216"/>
            <a:ext cx="1202248" cy="108203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3425991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7939371" y="3425991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39" y="3533712"/>
            <a:ext cx="7210397" cy="44140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0" y="3975112"/>
            <a:ext cx="7210397" cy="376691"/>
          </a:xfrm>
        </p:spPr>
        <p:txBody>
          <a:bodyPr anchor="t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47092" y="3532444"/>
            <a:ext cx="865613" cy="818092"/>
          </a:xfrm>
        </p:spPr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2380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477680"/>
            <a:ext cx="7828359" cy="240873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01917" y="564921"/>
            <a:ext cx="7218720" cy="810704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495709" y="1752655"/>
            <a:ext cx="2302526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10241" y="2267005"/>
            <a:ext cx="2287277" cy="2185135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67019" y="1752655"/>
            <a:ext cx="2297430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59103" y="2267005"/>
            <a:ext cx="2297430" cy="2185135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418117" y="1752655"/>
            <a:ext cx="230251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418117" y="2267005"/>
            <a:ext cx="2302519" cy="2185135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4011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Bild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477680"/>
            <a:ext cx="7828359" cy="240873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510242" y="564921"/>
            <a:ext cx="7210395" cy="810704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10239" y="3223127"/>
            <a:ext cx="228727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10239" y="1752655"/>
            <a:ext cx="2287279" cy="1143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10239" y="3655324"/>
            <a:ext cx="2287279" cy="796817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59103" y="3223127"/>
            <a:ext cx="2297430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59103" y="1752655"/>
            <a:ext cx="2297430" cy="1143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58088" y="3655323"/>
            <a:ext cx="2300473" cy="796817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423009" y="3223127"/>
            <a:ext cx="229762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423008" y="1752655"/>
            <a:ext cx="2297629" cy="1143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422915" y="3655321"/>
            <a:ext cx="2300672" cy="796817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6881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477680"/>
            <a:ext cx="7828359" cy="240873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2380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6087155" y="1402046"/>
            <a:ext cx="3830241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7401152" y="4029302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596923" y="457198"/>
            <a:ext cx="805352" cy="3265320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241" y="457198"/>
            <a:ext cx="6652503" cy="3994942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105344" y="4452141"/>
            <a:ext cx="2057400" cy="273844"/>
          </a:xfrm>
        </p:spPr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0241" y="4452141"/>
            <a:ext cx="4595104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573163" y="4048975"/>
            <a:ext cx="865613" cy="818092"/>
          </a:xfrm>
        </p:spPr>
        <p:txBody>
          <a:bodyPr anchor="t"/>
          <a:lstStyle>
            <a:lvl1pPr algn="ctr">
              <a:defRPr/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13748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18" Target="../theme/theme1.xml" Type="http://schemas.openxmlformats.org/officeDocument/2006/relationships/theme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17" Target="../slideLayouts/slideLayout17.xml" Type="http://schemas.openxmlformats.org/officeDocument/2006/relationships/slideLayout" /><Relationship Id="rId2" Target="../slideLayouts/slideLayout2.xml" Type="http://schemas.openxmlformats.org/officeDocument/2006/relationships/slideLayout" /><Relationship Id="rId16" Target="../slideLayouts/slideLayout16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5" Target="../slideLayouts/slideLayout15.xml" Type="http://schemas.openxmlformats.org/officeDocument/2006/relationships/slideLayout" /><Relationship Id="rId10" Target="../slideLayouts/slideLayout10.xml" Type="http://schemas.openxmlformats.org/officeDocument/2006/relationships/slideLayout" /><Relationship Id="rId19" Target="../media/image1.png" Type="http://schemas.openxmlformats.org/officeDocument/2006/relationships/image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slideLayouts/slideLayout14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0241" y="564921"/>
            <a:ext cx="7210396" cy="8107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0241" y="1752655"/>
            <a:ext cx="7210396" cy="26994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63236" y="4452141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0241" y="4452141"/>
            <a:ext cx="515299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47092" y="564921"/>
            <a:ext cx="865613" cy="8180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77228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KI in Unternehmen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Strategie, Wert &amp; Umsetzung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23. Mai 2026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indent="-342900" marL="342900">
              <a:buAutoNum type="arabicPeriod"/>
            </a:pPr>
            <a:r>
              <a:rPr/>
              <a:t>Marktdynamik</a:t>
            </a:r>
          </a:p>
          <a:p>
            <a:pPr lvl="0" indent="-342900" marL="342900">
              <a:buAutoNum startAt="2" type="arabicPeriod"/>
            </a:pPr>
            <a:r>
              <a:rPr/>
              <a:t>Werthebel</a:t>
            </a:r>
          </a:p>
          <a:p>
            <a:pPr lvl="0" indent="-342900" marL="342900">
              <a:buAutoNum startAt="3" type="arabicPeriod"/>
            </a:pPr>
            <a:r>
              <a:rPr/>
              <a:t>Daten &amp; Plattform</a:t>
            </a:r>
          </a:p>
          <a:p>
            <a:pPr lvl="0" indent="-342900" marL="342900">
              <a:buAutoNum startAt="4" type="arabicPeriod"/>
            </a:pPr>
            <a:r>
              <a:rPr/>
              <a:t>Governance</a:t>
            </a:r>
          </a:p>
          <a:p>
            <a:pPr lvl="0" indent="-342900" marL="342900">
              <a:buAutoNum startAt="5" type="arabicPeriod"/>
            </a:pPr>
            <a:r>
              <a:rPr/>
              <a:t>Roadmap &amp; Fazit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1: Marktdynamik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Adoption steigt rasant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78 % der Unternehmen nutzen GenAI wöchentlich</a:t>
            </a:r>
          </a:p>
          <a:p>
            <a:pPr lvl="0"/>
            <a:r>
              <a:rPr/>
              <a:t>Pilot-zu-Produktion bleibt das Nadelöhr</a:t>
            </a:r>
          </a:p>
          <a:p>
            <a:pPr lvl="0"/>
            <a:r>
              <a:rPr/>
              <a:t>Investitionen verdoppeln sich jedes Jahr</a:t>
            </a:r>
          </a:p>
          <a:p>
            <a:pPr lvl="0"/>
            <a:r>
              <a:rPr/>
              <a:t>Skill-Gap wird zur Engpass-Disziplin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Markttrends 2026 im Bild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10240" y="2110646"/>
            <a:ext cx="3523769" cy="1983505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Agentic AI verlässt das Lab</a:t>
            </a:r>
          </a:p>
          <a:p>
            <a:pPr lvl="0"/>
            <a:r>
              <a:rPr/>
              <a:t>Multimodale Modelle werden Standard</a:t>
            </a:r>
          </a:p>
          <a:p>
            <a:pPr lvl="0"/>
            <a:r>
              <a:rPr/>
              <a:t>On-Device-Inferenz für sensible Daten</a:t>
            </a:r>
          </a:p>
          <a:p>
            <a:pPr lvl="0"/>
            <a:r>
              <a:rPr/>
              <a:t>Open-Source-Modelle holen auf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Kernzahlen 2024–2026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508000" y="1752600"/>
          <a:ext cx="7200900" cy="3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0700"/>
                <a:gridCol w="1790700"/>
                <a:gridCol w="1790700"/>
                <a:gridCol w="1790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Indikator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2026e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KI-Nutzung (wöchentlich)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56 %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71 %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78 %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Skalierte Use Cases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26 %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KI-Investitionen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180 Mrd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252 Mrd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320 Mrd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Skills-Gap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Governance-Reife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niedrig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2: Werthebel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Wo Wert entsteht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Umsatz: Pricing, Sales, Cross-Sell</a:t>
            </a:r>
          </a:p>
          <a:p>
            <a:pPr lvl="0"/>
            <a:r>
              <a:rPr/>
              <a:t>Kosten: Automation und Qualität</a:t>
            </a:r>
          </a:p>
          <a:p>
            <a:pPr lvl="0"/>
            <a:r>
              <a:rPr/>
              <a:t>Tempo: kürzere Zyklen, weniger Rework</a:t>
            </a:r>
          </a:p>
          <a:p>
            <a:pPr lvl="0"/>
            <a:r>
              <a:rPr/>
              <a:t>Innovation: neue Produkte &amp; Services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195592" y="2110287"/>
            <a:ext cx="3525044" cy="1984223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Was Andrew Ng sagt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/>
          </p:nvPr>
        </p:nvSpPr>
        <p:spPr/>
        <p:txBody>
          <a:bodyPr>
            <a:normAutofit/>
          </a:bodyPr>
          <a:lstStyle/>
          <a:p>
            <a:pPr lvl="0" indent="0">
              <a:buNone/>
            </a:pPr>
            <a:r>
              <a:rPr sz="2000"/>
              <a:t>KI ersetzt nicht Menschen. Menschen mit KI ersetzen Menschen ohne KI.</a:t>
            </a:r>
          </a:p>
          <a:p>
            <a:pPr lvl="0" indent="0">
              <a:buNone/>
            </a:pPr>
            <a:r>
              <a:rPr sz="2000"/>
              <a:t>— frei nach Andrew Ng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Use-Case-Portfolio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508000" y="1752600"/>
          <a:ext cx="7200900" cy="3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0300"/>
                <a:gridCol w="2400300"/>
                <a:gridCol w="2400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Bereich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Reife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Service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Agent Assist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Marketing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Content-Engine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Operations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Forecasting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Recruiting Copilot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Finance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Anomalie-Erkennung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niedrig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3: Daten &amp; Plattform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Daten als Engpass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10240" y="2110646"/>
            <a:ext cx="3523769" cy="1983505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Datenqualität limitiert die meisten Piloten</a:t>
            </a:r>
          </a:p>
          <a:p>
            <a:pPr lvl="0"/>
            <a:r>
              <a:rPr/>
              <a:t>Ownership fehlt fast überall</a:t>
            </a:r>
          </a:p>
          <a:p>
            <a:pPr lvl="0"/>
            <a:r>
              <a:rPr/>
              <a:t>Vektor-DBs werden zur Pflicht</a:t>
            </a:r>
          </a:p>
          <a:p>
            <a:pPr lvl="0"/>
            <a:r>
              <a:rPr/>
              <a:t>Cost-Tracking pro Workflow wird neu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Architektur-Zielbild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71700" y="1752600"/>
            <a:ext cx="3886200" cy="2184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4: Governance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EU AI Act kompakt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Anwendungspflicht ab 2026 stufenweise</a:t>
            </a:r>
          </a:p>
          <a:p>
            <a:pPr lvl="0"/>
            <a:r>
              <a:rPr/>
              <a:t>High-Risk-Pflichten ab August 2026</a:t>
            </a:r>
          </a:p>
          <a:p>
            <a:pPr lvl="0"/>
            <a:r>
              <a:rPr/>
              <a:t>Dokumentation und Audit-Trail werden Pflicht</a:t>
            </a:r>
          </a:p>
          <a:p>
            <a:pPr lvl="0"/>
            <a:r>
              <a:rPr/>
              <a:t>Schatten-KI ist heute schon ein Risiko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5: Roadmap &amp; Fazit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12-Monats-Roadmap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508000" y="1752600"/>
          <a:ext cx="7200900" cy="269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0300"/>
                <a:gridCol w="2400300"/>
                <a:gridCol w="2400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Quartal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Fokus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Ergebnis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Strategie &amp; Portfolio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Use-Case-Liste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Plattform &amp; Piloten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produktive MVPs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Skalierung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Rollout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Erfolgsfaktoren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Vorstands-Sponsoring mit klarer Verantwortung</a:t>
            </a:r>
          </a:p>
          <a:p>
            <a:pPr lvl="0"/>
            <a:r>
              <a:rPr/>
              <a:t>Fokus auf wenige, messbare Werthebel</a:t>
            </a:r>
          </a:p>
          <a:p>
            <a:pPr lvl="0"/>
            <a:r>
              <a:rPr/>
              <a:t>Daten- und Prozessarbeit vor Modell-Faszination</a:t>
            </a:r>
          </a:p>
          <a:p>
            <a:pPr lvl="0"/>
            <a:r>
              <a:rPr/>
              <a:t>Governance als Beschleuniger, nicht als Bremse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Fazit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KI ist Organisationsentwicklung, kein IT-Projekt</a:t>
            </a:r>
          </a:p>
          <a:p>
            <a:pPr lvl="0"/>
            <a:r>
              <a:rPr/>
              <a:t>Wettbewerbsvorteil entsteht durch integrierte Workflows</a:t>
            </a:r>
          </a:p>
          <a:p>
            <a:pPr lvl="0"/>
            <a:r>
              <a:rPr/>
              <a:t>Verantwortungsvolle Skalierung braucht Leitplanken</a:t>
            </a:r>
          </a:p>
          <a:p>
            <a:pPr lvl="0"/>
            <a:r>
              <a:rPr/>
              <a:t>Jetzt zählt: priorisieren, produktiv setzen, lernen, skalieren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Berlin</Template>
  <TotalTime>0</TotalTime>
  <Words>0</Words>
  <Application>Microsoft Office PowerPoint</Application>
  <PresentationFormat>Bildschirmpräsentation (16:9)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Trebuchet MS</vt:lpstr>
      <vt:lpstr>Berlin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 in Unternehmen</dc:title>
  <dc:creator>Strategie, Wert &amp; Umsetzung</dc:creator>
  <cp:keywords/>
  <dcterms:created xsi:type="dcterms:W3CDTF">2026-05-23T06:04:20Z</dcterms:created>
  <dcterms:modified xsi:type="dcterms:W3CDTF">2026-05-23T06:04:20Z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23. Mai 2026</vt:lpwstr>
  </property>
</Properties>
</file>