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2.xml" ContentType="application/vnd.openxmlformats-officedocument.theme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726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32"/>
          <a:sy d="100" n="132"/>
        </p:scale>
        <p:origin x="126" y="264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notesMaster" Target="notesMasters/notesMaster1.xml" /><Relationship Id="rId25" Type="http://schemas.openxmlformats.org/officeDocument/2006/relationships/tableStyles" Target="tableStyles.xml" /><Relationship Id="rId1" Type="http://schemas.openxmlformats.org/officeDocument/2006/relationships/slideMaster" Target="slideMasters/slideMaster1.xml" /><Relationship Id="rId24" Type="http://schemas.openxmlformats.org/officeDocument/2006/relationships/theme" Target="theme/theme1.xml" /><Relationship Id="rId23" Type="http://schemas.openxmlformats.org/officeDocument/2006/relationships/viewProps" Target="viewProps.xml" /><Relationship Id="rId22" Type="http://schemas.openxmlformats.org/officeDocument/2006/relationships/presProps" Target="presProps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15.xml" /><Relationship Id="rId1" Type="http://schemas.openxmlformats.org/officeDocument/2006/relationships/notesMaster" Target="../notesMasters/notesMaster1.xml" 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19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Quellen: McKinsey State of AI 2025, Stanford AI Index 2025, BCG 2024. Konkrete Zahl zur Adoption-Tiefe (1× pro Woche, 1× pro Tag, in Kernprozesse) im Anhang.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4</a:t>
            </a:fld>
            <a:endParaRPr lang="en-US"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Detail-Timeline siehe Greenberg-Traurig 2025 Compliance-Guide. Übergang: “Bevor wir zur Roadmap kommen, kurz zu den Kontrollen…”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15</a:t>
            </a:fld>
            <a:endParaRPr lang="en-US"/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Letzte Folie — Schlussbotschaft für die Diskussion: “Wenn wir in 12 Monaten zurückblicken, woran erkennen wir, dass dieses Programm erfolgreich war?”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19</a:t>
            </a:fld>
            <a:endParaRPr lang="en-US"/>
          </a:p>
        </p:txBody>
      </p:sp>
    </p:spTree>
  </p:cSld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200150" y="1790058"/>
            <a:ext cx="6743700" cy="123444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2850">
                <a:solidFill>
                  <a:srgbClr val="262626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21396" y="3264408"/>
            <a:ext cx="5101209" cy="929921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15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8917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0718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200150" y="1790058"/>
            <a:ext cx="6743700" cy="123444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2850">
                <a:solidFill>
                  <a:srgbClr val="262626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21396" y="3264349"/>
            <a:ext cx="5101209" cy="94881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15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03406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86434" y="1978533"/>
            <a:ext cx="3203828" cy="2326487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53737" y="1978533"/>
            <a:ext cx="3202685" cy="2326487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863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87577" y="1735075"/>
            <a:ext cx="3202686" cy="528065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425" b="0" cap="all" spc="75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342900" indent="0">
              <a:buNone/>
              <a:defRPr sz="1425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87577" y="2357438"/>
            <a:ext cx="3202686" cy="1947582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3737" y="2357438"/>
            <a:ext cx="3190113" cy="1947582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4753737" y="1735075"/>
            <a:ext cx="3202686" cy="528065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425" b="0" cap="all" spc="75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342900" indent="0">
              <a:buNone/>
              <a:defRPr sz="1425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72994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24032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34565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603504" y="1682871"/>
            <a:ext cx="3364992" cy="856123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1650">
                <a:solidFill>
                  <a:srgbClr val="262626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52060" y="603504"/>
            <a:ext cx="3611880" cy="3936492"/>
          </a:xfrm>
        </p:spPr>
        <p:txBody>
          <a:bodyPr>
            <a:normAutofit/>
          </a:bodyPr>
          <a:lstStyle>
            <a:lvl1pPr>
              <a:defRPr sz="1425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 sz="1200">
                <a:solidFill>
                  <a:schemeClr val="tx1"/>
                </a:solidFill>
              </a:defRPr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6676" y="2662439"/>
            <a:ext cx="2846070" cy="164552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125">
                <a:solidFill>
                  <a:srgbClr val="FFFFFF"/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603504" y="4677156"/>
            <a:ext cx="3843598" cy="24003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37066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1" y="0"/>
            <a:ext cx="4571999" cy="5143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606392" y="1682871"/>
            <a:ext cx="3371249" cy="85098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1650">
                <a:solidFill>
                  <a:srgbClr val="262626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572000" y="0"/>
            <a:ext cx="4576573" cy="51435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24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6676" y="2662439"/>
            <a:ext cx="2846070" cy="1645528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125">
                <a:solidFill>
                  <a:srgbClr val="FFFFFF"/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603504" y="4677156"/>
            <a:ext cx="3843598" cy="24003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90328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04660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489834" y="702945"/>
            <a:ext cx="973956" cy="3737610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673352" y="702945"/>
            <a:ext cx="4648867" cy="3737610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8657897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1673352" y="723519"/>
            <a:ext cx="5797296" cy="89154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73352" y="1978534"/>
            <a:ext cx="5797296" cy="23264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866072" y="4679112"/>
            <a:ext cx="2065310" cy="24297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88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00150" y="4677156"/>
            <a:ext cx="4425892" cy="24003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88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069192" y="4663440"/>
            <a:ext cx="274320" cy="27432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825" spc="0" baseline="0">
                <a:solidFill>
                  <a:srgbClr val="FFFFFF"/>
                </a:solidFill>
              </a:defRPr>
            </a:lvl1pPr>
          </a:lstStyle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26911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</p:sldLayoutIdLst>
  <p:txStyles>
    <p:titleStyle>
      <a:lvl1pPr algn="ctr" defTabSz="685800" rtl="0" eaLnBrk="1" latinLnBrk="0" hangingPunct="1">
        <a:lnSpc>
          <a:spcPct val="90000"/>
        </a:lnSpc>
        <a:spcBef>
          <a:spcPct val="0"/>
        </a:spcBef>
        <a:buNone/>
        <a:defRPr sz="2100" kern="1200" cap="all" spc="15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100000"/>
        </a:lnSpc>
        <a:spcBef>
          <a:spcPts val="750"/>
        </a:spcBef>
        <a:buClr>
          <a:schemeClr val="accent2"/>
        </a:buClr>
        <a:buFont typeface="Arial" panose="020B0604020202020204" pitchFamily="34" charset="0"/>
        <a:buChar char="•"/>
        <a:defRPr sz="135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342900" indent="-171450" algn="l" defTabSz="685800" rtl="0" eaLnBrk="1" latinLnBrk="0" hangingPunct="1">
        <a:lnSpc>
          <a:spcPct val="100000"/>
        </a:lnSpc>
        <a:spcBef>
          <a:spcPts val="750"/>
        </a:spcBef>
        <a:buClr>
          <a:schemeClr val="accent2"/>
        </a:buClr>
        <a:buFont typeface="Arial" panose="020B0604020202020204" pitchFamily="34" charset="0"/>
        <a:buChar char="•"/>
        <a:defRPr sz="12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514350" indent="-171450" algn="l" defTabSz="685800" rtl="0" eaLnBrk="1" latinLnBrk="0" hangingPunct="1">
        <a:lnSpc>
          <a:spcPct val="100000"/>
        </a:lnSpc>
        <a:spcBef>
          <a:spcPts val="750"/>
        </a:spcBef>
        <a:buClr>
          <a:schemeClr val="accent2"/>
        </a:buClr>
        <a:buFont typeface="Arial" panose="020B0604020202020204" pitchFamily="34" charset="0"/>
        <a:buChar char="•"/>
        <a:defRPr sz="12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685800" indent="-171450" algn="l" defTabSz="685800" rtl="0" eaLnBrk="1" latinLnBrk="0" hangingPunct="1">
        <a:lnSpc>
          <a:spcPct val="100000"/>
        </a:lnSpc>
        <a:spcBef>
          <a:spcPts val="750"/>
        </a:spcBef>
        <a:buClr>
          <a:schemeClr val="accent2"/>
        </a:buClr>
        <a:buFont typeface="Arial" panose="020B0604020202020204" pitchFamily="34" charset="0"/>
        <a:buChar char="•"/>
        <a:defRPr sz="12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857250" indent="-171450" algn="l" defTabSz="685800" rtl="0" eaLnBrk="1" latinLnBrk="0" hangingPunct="1">
        <a:lnSpc>
          <a:spcPct val="100000"/>
        </a:lnSpc>
        <a:spcBef>
          <a:spcPts val="750"/>
        </a:spcBef>
        <a:buClr>
          <a:schemeClr val="accent2"/>
        </a:buClr>
        <a:buFont typeface="Arial" panose="020B0604020202020204" pitchFamily="34" charset="0"/>
        <a:buChar char="•"/>
        <a:defRPr sz="12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984647" indent="-171450" algn="l" defTabSz="685800" rtl="0" eaLnBrk="1" latinLnBrk="0" hangingPunct="1">
        <a:lnSpc>
          <a:spcPct val="100000"/>
        </a:lnSpc>
        <a:spcBef>
          <a:spcPts val="750"/>
        </a:spcBef>
        <a:buClr>
          <a:schemeClr val="accent2"/>
        </a:buClr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113235" indent="-171450" algn="l" defTabSz="685800" rtl="0" eaLnBrk="1" latinLnBrk="0" hangingPunct="1">
        <a:lnSpc>
          <a:spcPct val="100000"/>
        </a:lnSpc>
        <a:spcBef>
          <a:spcPts val="750"/>
        </a:spcBef>
        <a:buClr>
          <a:schemeClr val="accent2"/>
        </a:buClr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1243013" indent="-171450" algn="l" defTabSz="685800" rtl="0" eaLnBrk="1" latinLnBrk="0" hangingPunct="1">
        <a:lnSpc>
          <a:spcPct val="100000"/>
        </a:lnSpc>
        <a:spcBef>
          <a:spcPts val="750"/>
        </a:spcBef>
        <a:buClr>
          <a:schemeClr val="accent2"/>
        </a:buClr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412081" indent="-171450" algn="l" defTabSz="685800" rtl="0" eaLnBrk="1" latinLnBrk="0" hangingPunct="1">
        <a:lnSpc>
          <a:spcPct val="100000"/>
        </a:lnSpc>
        <a:spcBef>
          <a:spcPts val="750"/>
        </a:spcBef>
        <a:buClr>
          <a:schemeClr val="accent2"/>
        </a:buClr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.png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.png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.png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png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KI in Unternehmen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Strategie, Wert &amp; Umsetzung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23. Mai 2026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 indent="-342900" marL="342900">
              <a:buAutoNum type="arabicPeriod"/>
            </a:pPr>
            <a:r>
              <a:rPr/>
              <a:t>Marktdynamik</a:t>
            </a:r>
          </a:p>
          <a:p>
            <a:pPr lvl="0" indent="-342900" marL="342900">
              <a:buAutoNum startAt="2" type="arabicPeriod"/>
            </a:pPr>
            <a:r>
              <a:rPr/>
              <a:t>Werthebel</a:t>
            </a:r>
          </a:p>
          <a:p>
            <a:pPr lvl="0" indent="-342900" marL="342900">
              <a:buAutoNum startAt="3" type="arabicPeriod"/>
            </a:pPr>
            <a:r>
              <a:rPr/>
              <a:t>Daten &amp; Plattform</a:t>
            </a:r>
          </a:p>
          <a:p>
            <a:pPr lvl="0" indent="-342900" marL="342900">
              <a:buAutoNum startAt="4" type="arabicPeriod"/>
            </a:pPr>
            <a:r>
              <a:rPr/>
              <a:t>Governance</a:t>
            </a:r>
          </a:p>
          <a:p>
            <a:pPr lvl="0" indent="-342900" marL="342900">
              <a:buAutoNum startAt="5" type="arabicPeriod"/>
            </a:pPr>
            <a:r>
              <a:rPr/>
              <a:t>Roadmap &amp; Fazit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Teil 1: Marktdynamik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Adoption steigt rasant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/>
              <a:t>78 % der Unternehmen nutzen GenAI wöchentlich</a:t>
            </a:r>
          </a:p>
          <a:p>
            <a:pPr lvl="0"/>
            <a:r>
              <a:rPr/>
              <a:t>Pilot-zu-Produktion bleibt das Nadelöhr</a:t>
            </a:r>
          </a:p>
          <a:p>
            <a:pPr lvl="0"/>
            <a:r>
              <a:rPr/>
              <a:t>Investitionen verdoppeln sich jedes Jahr</a:t>
            </a:r>
          </a:p>
          <a:p>
            <a:pPr lvl="0"/>
            <a:r>
              <a:rPr/>
              <a:t>Skill-Gap wird zur Engpass-Disziplin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Markttrends 2026 im Bild</a:t>
            </a:r>
          </a:p>
        </p:txBody>
      </p:sp>
      <p:pic>
        <p:nvPicPr>
          <p:cNvPr descr="/tmp/ppthelper_skeleton_placeholder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186434" y="2240070"/>
            <a:ext cx="3203828" cy="1803413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/>
            <a:r>
              <a:rPr/>
              <a:t>Agentic AI verlässt das Lab</a:t>
            </a:r>
          </a:p>
          <a:p>
            <a:pPr lvl="0"/>
            <a:r>
              <a:rPr/>
              <a:t>Multimodale Modelle werden Standard</a:t>
            </a:r>
          </a:p>
          <a:p>
            <a:pPr lvl="0"/>
            <a:r>
              <a:rPr/>
              <a:t>On-Device-Inferenz für sensible Daten</a:t>
            </a:r>
          </a:p>
          <a:p>
            <a:pPr lvl="0"/>
            <a:r>
              <a:rPr/>
              <a:t>Open-Source-Modelle holen auf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Kernzahlen 2024–2026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1663700" y="1968500"/>
          <a:ext cx="5791200" cy="31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7800"/>
                <a:gridCol w="1447800"/>
                <a:gridCol w="1447800"/>
                <a:gridCol w="1447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Indikator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2026e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KI-Nutzung (wöchentlich)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56 %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71 %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78 %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Skalierte Use Cases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12 %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19 %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26 %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KI-Investitionen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180 Mrd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252 Mrd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320 Mrd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Skills-Gap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hoch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hoch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mittel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Governance-Reife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niedrig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mittel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mittel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Teil 2: Werthebel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Wo Wert entsteht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>
            <a:normAutofit/>
          </a:bodyPr>
          <a:lstStyle/>
          <a:p>
            <a:pPr lvl="0"/>
            <a:r>
              <a:rPr/>
              <a:t>Umsatz: Pricing, Sales, Cross-Sell</a:t>
            </a:r>
          </a:p>
          <a:p>
            <a:pPr lvl="0"/>
            <a:r>
              <a:rPr/>
              <a:t>Kosten: Automation und Qualität</a:t>
            </a:r>
          </a:p>
          <a:p>
            <a:pPr lvl="0"/>
            <a:r>
              <a:rPr/>
              <a:t>Tempo: kürzere Zyklen, weniger Rework</a:t>
            </a:r>
          </a:p>
          <a:p>
            <a:pPr lvl="0"/>
            <a:r>
              <a:rPr/>
              <a:t>Innovation: neue Produkte &amp; Services</a:t>
            </a:r>
          </a:p>
        </p:txBody>
      </p:sp>
      <p:pic>
        <p:nvPicPr>
          <p:cNvPr descr="/tmp/ppthelper_skeleton_placeholder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753737" y="2240392"/>
            <a:ext cx="3202685" cy="1802769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Was Andrew Ng sagt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 indent="0">
              <a:buNone/>
            </a:pPr>
            <a:r>
              <a:rPr sz="2000" i="1"/>
              <a:t>KI ersetzt nicht Menschen. Menschen mit KI ersetzen Menschen ohne KI.</a:t>
            </a:r>
          </a:p>
          <a:p>
            <a:pPr lvl="0" indent="0">
              <a:buNone/>
            </a:pPr>
            <a:r>
              <a:rPr sz="2000" i="1"/>
              <a:t>— frei nach Andrew Ng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Use-Case-Portfolio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1663700" y="1968500"/>
          <a:ext cx="5791200" cy="31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30400"/>
                <a:gridCol w="1930400"/>
                <a:gridCol w="19304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Bereich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Use Case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Reife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Service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Agent Assist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hoch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Marketing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Content-Engine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hoch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Operations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Forecasting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mittel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Recruiting Copilot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mittel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Finance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Anomalie-Erkennung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niedrig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Teil 3: Daten &amp; Plattform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Daten als Engpass</a:t>
            </a:r>
          </a:p>
        </p:txBody>
      </p:sp>
      <p:pic>
        <p:nvPicPr>
          <p:cNvPr descr="/tmp/ppthelper_skeleton_placeholder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186434" y="2240070"/>
            <a:ext cx="3203828" cy="1803413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/>
            <a:r>
              <a:rPr/>
              <a:t>Datenqualität limitiert die meisten Piloten</a:t>
            </a:r>
          </a:p>
          <a:p>
            <a:pPr lvl="0"/>
            <a:r>
              <a:rPr/>
              <a:t>Ownership fehlt fast überall</a:t>
            </a:r>
          </a:p>
          <a:p>
            <a:pPr lvl="0"/>
            <a:r>
              <a:rPr/>
              <a:t>Vektor-DBs werden zur Pflicht</a:t>
            </a:r>
          </a:p>
          <a:p>
            <a:pPr lvl="0"/>
            <a:r>
              <a:rPr/>
              <a:t>Cost-Tracking pro Workflow wird neu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Architektur-Zielbild</a:t>
            </a:r>
          </a:p>
        </p:txBody>
      </p:sp>
      <p:pic>
        <p:nvPicPr>
          <p:cNvPr descr="/tmp/ppthelper_skeleton_placeholder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946400" y="1968500"/>
            <a:ext cx="3225800" cy="18161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Teil 4: Governance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EU AI Act kompakt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/>
              <a:t>Anwendungspflicht ab 2026 stufenweise</a:t>
            </a:r>
          </a:p>
          <a:p>
            <a:pPr lvl="0"/>
            <a:r>
              <a:rPr/>
              <a:t>High-Risk-Pflichten ab August 2026</a:t>
            </a:r>
          </a:p>
          <a:p>
            <a:pPr lvl="0"/>
            <a:r>
              <a:rPr/>
              <a:t>Dokumentation und Audit-Trail werden Pflicht</a:t>
            </a:r>
          </a:p>
          <a:p>
            <a:pPr lvl="0"/>
            <a:r>
              <a:rPr/>
              <a:t>Schatten-KI ist heute schon ein Risiko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Teil 5: Roadmap &amp; Fazit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12-Monats-Roadmap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1663700" y="1968500"/>
          <a:ext cx="5791200" cy="23241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30400"/>
                <a:gridCol w="1930400"/>
                <a:gridCol w="19304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Quartal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Fokus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Ergebnis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Q1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Strategie &amp; Portfolio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Use-Case-Liste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Q2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Plattform &amp; Piloten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produktive MVPs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Q3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Skalierung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Rollout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Erfolgsfaktoren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/>
              <a:t>Vorstands-Sponsoring mit klarer Verantwortung</a:t>
            </a:r>
          </a:p>
          <a:p>
            <a:pPr lvl="0"/>
            <a:r>
              <a:rPr/>
              <a:t>Fokus auf wenige, messbare Werthebel</a:t>
            </a:r>
          </a:p>
          <a:p>
            <a:pPr lvl="0"/>
            <a:r>
              <a:rPr/>
              <a:t>Daten- und Prozessarbeit vor Modell-Faszination</a:t>
            </a:r>
          </a:p>
          <a:p>
            <a:pPr lvl="0"/>
            <a:r>
              <a:rPr/>
              <a:t>Governance als Beschleuniger, nicht als Bremse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Fazit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/>
              <a:t>KI ist Organisationsentwicklung, kein IT-Projekt</a:t>
            </a:r>
          </a:p>
          <a:p>
            <a:pPr lvl="0"/>
            <a:r>
              <a:rPr/>
              <a:t>Wettbewerbsvorteil entsteht durch integrierte Workflows</a:t>
            </a:r>
          </a:p>
          <a:p>
            <a:pPr lvl="0"/>
            <a:r>
              <a:rPr/>
              <a:t>Verantwortungsvolle Skalierung braucht Leitplanken</a:t>
            </a:r>
          </a:p>
          <a:p>
            <a:pPr lvl="0"/>
            <a:r>
              <a:rPr/>
              <a:t>Jetzt zählt: priorisieren, produktiv setzen, lernen, skalieren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theme/theme1.xml><?xml version="1.0" encoding="utf-8"?>
<a:theme xmlns:a="http://schemas.openxmlformats.org/drawingml/2006/main" name="Paket">
  <a:themeElements>
    <a:clrScheme name="Paket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ket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ket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Paket</Template>
  <TotalTime>0</TotalTime>
  <Words>0</Words>
  <Application>Microsoft Office PowerPoint</Application>
  <PresentationFormat>Bildschirmpräsentation (16:9)</PresentationFormat>
  <Paragraphs>0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5" baseType="lpstr">
      <vt:lpstr>Arial</vt:lpstr>
      <vt:lpstr>Calibri</vt:lpstr>
      <vt:lpstr>Gill Sans MT</vt:lpstr>
      <vt:lpstr>Paket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KI in Unternehmen</dc:title>
  <dc:creator>Strategie, Wert &amp; Umsetzung</dc:creator>
  <cp:keywords/>
  <dcterms:created xsi:type="dcterms:W3CDTF">2026-05-23T06:04:23Z</dcterms:created>
  <dcterms:modified xsi:type="dcterms:W3CDTF">2026-05-23T06:04:23Z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23. Mai 2026</vt:lpwstr>
  </property>
</Properties>
</file>